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64" r:id="rId3"/>
    <p:sldId id="266" r:id="rId4"/>
    <p:sldId id="257" r:id="rId5"/>
    <p:sldId id="258" r:id="rId7"/>
    <p:sldId id="282" r:id="rId8"/>
    <p:sldId id="285" r:id="rId9"/>
    <p:sldId id="294" r:id="rId10"/>
    <p:sldId id="268" r:id="rId11"/>
    <p:sldId id="259" r:id="rId12"/>
    <p:sldId id="273" r:id="rId13"/>
    <p:sldId id="260" r:id="rId14"/>
    <p:sldId id="261" r:id="rId15"/>
    <p:sldId id="262" r:id="rId16"/>
    <p:sldId id="275" r:id="rId17"/>
    <p:sldId id="287" r:id="rId18"/>
    <p:sldId id="288" r:id="rId19"/>
    <p:sldId id="289" r:id="rId20"/>
    <p:sldId id="290" r:id="rId21"/>
    <p:sldId id="291" r:id="rId22"/>
    <p:sldId id="29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1" userDrawn="1">
          <p15:clr>
            <a:srgbClr val="A4A3A4"/>
          </p15:clr>
        </p15:guide>
        <p15:guide id="2" pos="2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2FA"/>
    <a:srgbClr val="C4E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 showGuides="1">
      <p:cViewPr varScale="1">
        <p:scale>
          <a:sx n="65" d="100"/>
          <a:sy n="65" d="100"/>
        </p:scale>
        <p:origin x="-1296" y="-64"/>
      </p:cViewPr>
      <p:guideLst>
        <p:guide orient="horz" pos="2231"/>
        <p:guide pos="28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5693" y="1037827"/>
            <a:ext cx="4873578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CANARA ENGINEERING COLLEGE </a:t>
            </a:r>
            <a:endParaRPr lang="en-IN" sz="2250" dirty="0"/>
          </a:p>
        </p:txBody>
      </p:sp>
      <p:sp>
        <p:nvSpPr>
          <p:cNvPr id="3" name="Rectangle 2"/>
          <p:cNvSpPr/>
          <p:nvPr/>
        </p:nvSpPr>
        <p:spPr>
          <a:xfrm>
            <a:off x="1884899" y="1566033"/>
            <a:ext cx="5567381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Sudhindra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Nagara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Benjanapadavu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Mangalore– 574219, D.K Karnataka 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OF COMPUTER SCIENCE AND ENGINEERING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1837" y="2449956"/>
            <a:ext cx="8429114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Memesense:Tone-Based Meme and GIF Detection Using Generativ AI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2110" y="5088890"/>
            <a:ext cx="4050665" cy="152590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USN:</a:t>
            </a:r>
            <a:endParaRPr lang="en-I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Rishika B V                   4CB23CS126</a:t>
            </a:r>
            <a:endParaRPr lang="en-I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Rashmitha                     4CB23CS125</a:t>
            </a:r>
            <a:endParaRPr lang="en-I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Rashmi K Bhat              4CB23CS124</a:t>
            </a:r>
            <a:endParaRPr lang="en-I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Kamadhenu Logo.jpg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10" y="1060450"/>
            <a:ext cx="1540510" cy="1221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mmembal Logo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60" y="1060450"/>
            <a:ext cx="1216660" cy="122047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/>
        </p:nvSpPr>
        <p:spPr>
          <a:xfrm>
            <a:off x="6243614" y="5577655"/>
            <a:ext cx="2643505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 guidance o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Kavya A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Assistant Professor,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CS&amp;E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62555" y="4262755"/>
            <a:ext cx="3766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latin typeface="Times New Roman" panose="02020603050405020304" pitchFamily="18" charset="0"/>
                <a:ea typeface="Computer Says No"/>
                <a:cs typeface="Times New Roman" panose="02020603050405020304" pitchFamily="18" charset="0"/>
                <a:sym typeface="Computer Says No"/>
              </a:rPr>
              <a:t>Team ID: CEC/CSE/2026-27/P-</a:t>
            </a:r>
            <a:r>
              <a:rPr lang="en-IN" altLang="en-US" dirty="0">
                <a:latin typeface="Times New Roman" panose="02020603050405020304" pitchFamily="18" charset="0"/>
                <a:ea typeface="Computer Says No"/>
                <a:cs typeface="Times New Roman" panose="02020603050405020304" pitchFamily="18" charset="0"/>
                <a:sym typeface="Computer Says No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Computer Says No"/>
                <a:cs typeface="Times New Roman" panose="02020603050405020304" pitchFamily="18" charset="0"/>
                <a:sym typeface="Computer Says No"/>
              </a:rPr>
              <a:t>1</a:t>
            </a:r>
            <a:endParaRPr lang="en-US" dirty="0">
              <a:latin typeface="Times New Roman" panose="02020603050405020304" pitchFamily="18" charset="0"/>
              <a:ea typeface="Computer Says No"/>
              <a:cs typeface="Times New Roman" panose="02020603050405020304" pitchFamily="18" charset="0"/>
              <a:sym typeface="Computer Says No"/>
            </a:endParaRPr>
          </a:p>
          <a:p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000" dirty="0" smtClean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000" dirty="0" smtClean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000" dirty="0" smtClean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0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altLang="en-US" sz="2000" dirty="0" smtClean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0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altLang="en-US" sz="2000" dirty="0" smtClean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0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altLang="en-US" sz="2000" dirty="0" smtClean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0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  <a:endParaRPr lang="en-IN" altLang="en-US" sz="2000" dirty="0" smtClean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0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altLang="en-US" sz="2000" dirty="0" smtClean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0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2000" dirty="0" smtClean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20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35"/>
            <a:ext cx="8229600" cy="1005840"/>
          </a:xfrm>
        </p:spPr>
        <p:txBody>
          <a:bodyPr/>
          <a:lstStyle/>
          <a:p>
            <a:r>
              <a:rPr sz="3600" b="1" dirty="0">
                <a:solidFill>
                  <a:srgbClr val="FF0000"/>
                </a:solidFill>
              </a:rPr>
              <a:t>Introduction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5205"/>
            <a:ext cx="8230235" cy="51682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altLang="en-GB" sz="2000" b="1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GB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Memes and short videos are one of the most popular ways people communicate online. They are not just funny images or clips </a:t>
            </a:r>
            <a:r>
              <a:rPr lang="en-US" altLang="en-GB" sz="28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often carry hidden tones like sarcasm, humor, motivation, or even offensiveness. Traditional AI tools struggle to catch these hidden meanings, especially when visuals, text, and audio are mixed together.</a:t>
            </a:r>
            <a:endParaRPr lang="en-US" altLang="en-GB" sz="28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770" y="274955"/>
            <a:ext cx="8114030" cy="461010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rgbClr val="FF0000"/>
                </a:solidFill>
              </a:rPr>
              <a:t>Literature Survey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630" y="1043940"/>
            <a:ext cx="8696325" cy="5398770"/>
          </a:xfrm>
        </p:spPr>
        <p:txBody>
          <a:bodyPr>
            <a:noAutofit/>
          </a:bodyPr>
          <a:lstStyle/>
          <a:p>
            <a:pPr algn="just"/>
            <a:r>
              <a:rPr lang="en-US" altLang="en-US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AI methods for memes worked okay but missed hidden context (like sarcasm, jokes</a:t>
            </a:r>
            <a:r>
              <a:rPr lang="en-US" altLang="en-US" sz="28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en-US" sz="28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were also slow, heavy, and needed big datasets.</a:t>
            </a:r>
            <a:endParaRPr lang="en-US" altLang="en-US" sz="28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altLang="en-US" sz="28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altLang="en-US" sz="2800" dirty="0" smtClean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en-US" sz="28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paper’s idea</a:t>
            </a:r>
            <a:r>
              <a:rPr lang="en-IN" altLang="en-US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two steps</a:t>
            </a:r>
            <a:r>
              <a:rPr lang="en-US" altLang="en-US" sz="28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8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Use BLIP-2 + GPT-4 → understand meme (image + text together</a:t>
            </a:r>
            <a:r>
              <a:rPr lang="en-US" altLang="en-US" sz="2800" dirty="0" smtClean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en-US" sz="28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Use a small model (KeyBERT + Transformer) → decide meme’s tone (funny, offensive, etc.)</a:t>
            </a:r>
            <a:r>
              <a:rPr lang="en-US" altLang="en-US" sz="24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73075" y="276225"/>
          <a:ext cx="8244205" cy="6458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490"/>
                <a:gridCol w="1557655"/>
                <a:gridCol w="1746885"/>
                <a:gridCol w="1652270"/>
                <a:gridCol w="1652905"/>
              </a:tblGrid>
              <a:tr h="469265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dirty="0" smtClean="0"/>
                        <a:t>Author/Year.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500" dirty="0" smtClean="0"/>
                        <a:t>Study/Work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dirty="0" smtClean="0"/>
                        <a:t>Method Used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Gaps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Key Result</a:t>
                      </a:r>
                      <a:endParaRPr lang="en-IN" sz="1500" dirty="0" smtClean="0"/>
                    </a:p>
                  </a:txBody>
                  <a:tcPr/>
                </a:tc>
              </a:tr>
              <a:tr h="2606040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1.</a:t>
                      </a:r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Sharma et al. (2020</a:t>
                      </a:r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Memotion 1.0 (SemEval-2020 Task 8)</a:t>
                      </a:r>
                      <a:endParaRPr lang="en-US" alt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Image features (VGG</a:t>
                      </a:r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+</a:t>
                      </a:r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te</a:t>
                      </a:r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 models </a:t>
                      </a:r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BERT), multimodal fusion for 3 tasks (sentiment, humor/sarcasm/offense/motivation, intensity).</a:t>
                      </a:r>
                      <a:endParaRPr lang="en-US" alt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dirty="0" smtClean="0"/>
                        <a:t>	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Small dataset, English-only, models struggled with sarcasm and cultural nuances</a:t>
                      </a:r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.</a:t>
                      </a:r>
                      <a:endParaRPr lang="en-IN" sz="1500" dirty="0" smtClean="0"/>
                    </a:p>
                    <a:p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benchmarks dataset and b</a:t>
                      </a:r>
                      <a:r>
                        <a:rPr lang="en-IN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aseline modals meme analysis</a:t>
                      </a:r>
                      <a:r>
                        <a:rPr lang="en-IN" sz="1500" dirty="0" smtClean="0"/>
                        <a:t>.</a:t>
                      </a:r>
                      <a:endParaRPr lang="en-IN" sz="1500" dirty="0" smtClean="0"/>
                    </a:p>
                  </a:txBody>
                  <a:tcPr/>
                </a:tc>
              </a:tr>
              <a:tr h="1691640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2.</a:t>
                      </a:r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Pramanick et al. (2021</a:t>
                      </a:r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lang="en-US" alt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Memotion 2.0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algn="just"/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Improved </a:t>
                      </a:r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multi</a:t>
                      </a:r>
                      <a:endParaRPr lang="en-I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just"/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modal transformer</a:t>
                      </a:r>
                      <a:endParaRPr lang="en-I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just"/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pipelines ensem</a:t>
                      </a:r>
                      <a:endParaRPr lang="en-I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just"/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-bles for the same </a:t>
                      </a:r>
                      <a:endParaRPr lang="en-I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just"/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Memotion task.</a:t>
                      </a:r>
                      <a:endParaRPr lang="en-US" alt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relied on heavy multimodal models; limited explainability; compute-intensive.</a:t>
                      </a:r>
                      <a:endParaRPr lang="en-US" altLang="en-GB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altLang="en-GB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accuracy across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benchmarks compared to Memotion 1 baselines.</a:t>
                      </a:r>
                      <a:endParaRPr lang="en-US" altLang="en-GB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GB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691640">
                <a:tc>
                  <a:txBody>
                    <a:bodyPr/>
                    <a:p>
                      <a:pPr indent="0" algn="just" eaLnBrk="1" fontAlgn="t" latinLnBrk="0" hangingPunct="1">
                        <a:buNone/>
                      </a:pPr>
                      <a:r>
                        <a:rPr lang="en-IN" sz="1500" dirty="0" smtClean="0"/>
                        <a:t>3</a:t>
                      </a:r>
                      <a:r>
                        <a:rPr lang="en-IN" alt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.</a:t>
                      </a:r>
                      <a:r>
                        <a:rPr lang="en-US" altLang="en-GB" sz="15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Mishra</a:t>
                      </a:r>
                      <a:r>
                        <a:rPr lang="en-US" altLang="en-GB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et al. (2023</a:t>
                      </a:r>
                      <a:r>
                        <a:rPr lang="en-IN" alt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lang="en-IN" altLang="en-US" sz="15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 eaLnBrk="1" fontAlgn="t" latinLnBrk="0" hangingPunct="1">
                        <a:buNone/>
                      </a:pPr>
                      <a:endParaRPr lang="en-IN" altLang="en-US" sz="15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Memotion 3.0 (Hinglish Memes)</a:t>
                      </a:r>
                      <a:endParaRPr lang="en-US" altLang="en-GB" sz="15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Multilingual text encoders + multimodal architectures for Hindi-English code-mixed memes.</a:t>
                      </a:r>
                      <a:endParaRPr lang="en-US" altLang="en-GB" sz="15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Domain-specific dataset needed; multilingual sarcasm and humor still challenging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Extended meme analysis beyond English; competitive results for Hinglish dataset.</a:t>
                      </a:r>
                      <a:endParaRPr lang="en-US" altLang="en-GB" sz="15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5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73075" y="332105"/>
          <a:ext cx="8244205" cy="5509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490"/>
                <a:gridCol w="1557655"/>
                <a:gridCol w="1746885"/>
                <a:gridCol w="1652270"/>
                <a:gridCol w="1652905"/>
              </a:tblGrid>
              <a:tr h="548640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dirty="0" smtClean="0"/>
                        <a:t>Author/Year.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500" dirty="0" smtClean="0"/>
                        <a:t>Study/Work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dirty="0" smtClean="0"/>
                        <a:t>Method Used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Gaps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Key Result</a:t>
                      </a:r>
                      <a:endParaRPr lang="en-IN" sz="1500" dirty="0" smtClean="0"/>
                    </a:p>
                  </a:txBody>
                  <a:tcPr/>
                </a:tc>
              </a:tr>
              <a:tr h="1724025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4.</a:t>
                      </a:r>
                      <a:r>
                        <a:rPr lang="en-US" altLang="en-GB" sz="15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Menon</a:t>
                      </a:r>
                      <a:r>
                        <a:rPr lang="en-US" altLang="en-GB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&amp; </a:t>
                      </a:r>
                      <a:r>
                        <a:rPr lang="en-US" altLang="en-GB" sz="15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Vondrick</a:t>
                      </a:r>
                      <a:r>
                        <a:rPr lang="en-US" altLang="en-GB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(20</a:t>
                      </a:r>
                      <a:r>
                        <a:rPr lang="en-IN" alt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22)</a:t>
                      </a:r>
                      <a:endParaRPr lang="en-IN" altLang="en-US" sz="15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Explainable Meme Understanding</a:t>
                      </a:r>
                      <a:endParaRPr lang="en-US" altLang="en-GB" sz="15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Used Vision Transformer (ViT) + DeBERTa; generated textual explanations (hero/villain/victim roles).</a:t>
                      </a:r>
                      <a:endParaRPr lang="en-US" altLang="en-GB" sz="15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dirty="0" smtClean="0"/>
                        <a:t>	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 smtClean="0"/>
                        <a:t>Role-focused dataset, not aligned with Memotion tasks; requires new labeled data.</a:t>
                      </a:r>
                      <a:endParaRPr lang="en-US" altLang="en-GB" sz="1500" dirty="0" smtClean="0"/>
                    </a:p>
                    <a:p>
                      <a:endParaRPr lang="en-US" altLang="en-GB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/>
                        <a:t>Improved interpretability of meme classification decisions</a:t>
                      </a:r>
                      <a:endParaRPr lang="en-US" altLang="en-GB" sz="1500" dirty="0" smtClean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GB" sz="1500" dirty="0" smtClean="0"/>
                    </a:p>
                  </a:txBody>
                  <a:tcPr/>
                </a:tc>
              </a:tr>
              <a:tr h="1463040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5.</a:t>
                      </a:r>
                      <a:r>
                        <a:rPr lang="en-US" altLang="en-GB" sz="15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Xu</a:t>
                      </a:r>
                      <a:r>
                        <a:rPr lang="en-US" altLang="en-GB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et al. (2022</a:t>
                      </a:r>
                      <a:r>
                        <a:rPr lang="en-IN" alt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algn="just" eaLnBrk="1" fontAlgn="t" latinLnBrk="0" hangingPunct="1"/>
                      <a:r>
                        <a:rPr lang="en-US" altLang="en-GB" sz="15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Meme Analysis with VQA</a:t>
                      </a:r>
                      <a:endParaRPr lang="en-US" altLang="en-GB" sz="15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just" eaLnBrk="1" fontAlgn="t" latinLnBrk="0" hangingPunct="1"/>
                      <a:r>
                        <a:rPr lang="en-US" altLang="en-GB" sz="15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+ GPT-3</a:t>
                      </a:r>
                      <a:endParaRPr lang="en-US" altLang="en-GB" sz="15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eaLnBrk="1" fontAlgn="t" latinLnBrk="0" hangingPunct="1"/>
                      <a:endParaRPr lang="en-US" altLang="en-GB" sz="15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Visual Question Answering (VQA) to generate answer candidates, then GPT-3 to analyze context for classification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Multi-stage and inefficient; GPT-3 outputs verbose, making classification harder.</a:t>
                      </a:r>
                      <a:endParaRPr lang="en-US" altLang="en-GB" sz="15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/>
                        <a:t>Showed LLM reasoning can enrich meme understanding beyond raw vision-text fusion.</a:t>
                      </a:r>
                      <a:endParaRPr lang="en-US" altLang="en-GB" sz="1500" dirty="0" smtClean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GB" sz="1500" dirty="0" smtClean="0"/>
                    </a:p>
                  </a:txBody>
                  <a:tcPr/>
                </a:tc>
              </a:tr>
              <a:tr h="1577975">
                <a:tc>
                  <a:txBody>
                    <a:bodyPr/>
                    <a:p>
                      <a:pPr indent="0" algn="just" eaLnBrk="1" fontAlgn="t" latinLnBrk="0" hangingPunct="1">
                        <a:buNone/>
                      </a:pPr>
                      <a:r>
                        <a:rPr lang="en-IN" altLang="en-US" sz="15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r>
                        <a:rPr lang="en-US" altLang="en-GB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Wu et al. (2021)</a:t>
                      </a:r>
                      <a:endParaRPr lang="en-IN" altLang="en-US" sz="15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Metaphor &amp; Multilingual Meme Analysi</a:t>
                      </a:r>
                      <a:r>
                        <a:rPr lang="en-IN" alt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</a:t>
                      </a:r>
                      <a:endParaRPr lang="en-IN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VGG image encoder + Multilingual BERT text encoder for metaphor recognition and Chinese memes.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new datasets; </a:t>
                      </a:r>
                      <a:endParaRPr lang="en-US" altLang="en-GB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directly</a:t>
                      </a:r>
                      <a:r>
                        <a:rPr lang="en-IN" altLang="en-US" sz="1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GB" sz="1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applicable to Memotion</a:t>
                      </a:r>
                      <a:r>
                        <a:rPr lang="en-US" altLang="en-US" sz="1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en-GB" sz="1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</a:t>
                      </a:r>
                      <a:r>
                        <a:rPr lang="en-IN" altLang="en-US" sz="1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altLang="en-GB" sz="1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arks.</a:t>
                      </a:r>
                      <a:endParaRPr lang="en-US" altLang="en-GB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GB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/>
                        <a:t>Pushed meme research beyond English; detected figurative language.</a:t>
                      </a:r>
                      <a:endParaRPr lang="en-US" altLang="en-GB" sz="1500" dirty="0"/>
                    </a:p>
                    <a:p>
                      <a:endParaRPr lang="en-US" altLang="en-GB" sz="15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532130" y="332105"/>
          <a:ext cx="8185150" cy="529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425"/>
                <a:gridCol w="1546860"/>
                <a:gridCol w="1734185"/>
                <a:gridCol w="1640840"/>
                <a:gridCol w="1640840"/>
              </a:tblGrid>
              <a:tr h="538480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dirty="0" smtClean="0"/>
                        <a:t>Author/Year.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500" dirty="0" smtClean="0"/>
                        <a:t>Study/Work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dirty="0" smtClean="0"/>
                        <a:t>Method Used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Gaps</a:t>
                      </a:r>
                      <a:endParaRPr lang="en-IN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Key Result</a:t>
                      </a:r>
                      <a:endParaRPr lang="en-IN" sz="1500" dirty="0" smtClean="0"/>
                    </a:p>
                  </a:txBody>
                  <a:tcPr/>
                </a:tc>
              </a:tr>
              <a:tr h="1718310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/>
                        <a:t>7</a:t>
                      </a:r>
                      <a:r>
                        <a:rPr lang="en-IN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Understanding of 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emes with Fair Explanations (2024)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 &amp; bias in meme classification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use pretrained Vision-Language (VL) models  to generate explanations for memes (image + text).</a:t>
                      </a:r>
                      <a:endParaRPr lang="en-US" altLang="en-GB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Addresses explainability gap</a:t>
                      </a:r>
                      <a:r>
                        <a:rPr lang="en-IN" altLang="en-US" sz="1500" dirty="0" smtClean="0"/>
                        <a:t>.</a:t>
                      </a:r>
                      <a:endParaRPr lang="en-IN" altLang="en-US" sz="1500" dirty="0" smtClean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Benchmarks explanation generation &amp; fairness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487170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PromptMTopic (2023)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just" eaLnBrk="1" fontAlgn="t" latinLnBrk="0" hangingPunct="1"/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Un-supervised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eaLnBrk="1" fontAlgn="t" latinLnBrk="0" hangingPunct="1"/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 modelling of memes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propose a prompt-based framework: extract visual semantic information by captioning images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Addresses cultural/context and evolving themes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Thematic clustering of memes via image+text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49400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Multimodal Memes Classification: Survey (2023)</a:t>
                      </a:r>
                      <a:endParaRPr lang="en-US" altLang="en-GB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&amp; open issues in meme classification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introduce a novel dataset of memes, then build a model called MemeCLIP</a:t>
                      </a:r>
                      <a:r>
                        <a:rPr lang="en-IN" altLang="en-US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frame overall gap (sarcasm, multilinguality)</a:t>
                      </a:r>
                      <a:endParaRPr lang="en-US" altLang="en-GB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datasets, methods, challenges</a:t>
                      </a:r>
                      <a:r>
                        <a:rPr lang="en-I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38480" y="5615940"/>
          <a:ext cx="8178800" cy="99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155"/>
                <a:gridCol w="1545590"/>
                <a:gridCol w="1732915"/>
                <a:gridCol w="1639570"/>
                <a:gridCol w="1639570"/>
              </a:tblGrid>
              <a:tr h="992505"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  <a:r>
                        <a:rPr lang="en-US" altLang="en-GB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MemeCLIP (2024)</a:t>
                      </a:r>
                      <a:r>
                        <a:rPr lang="en-IN" altLang="en-US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altLang="en-US" sz="15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en-GB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CLIP-based model + new dataset</a:t>
                      </a:r>
                      <a:r>
                        <a:rPr lang="en-US" altLang="en-GB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GB" sz="15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en-GB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orks on multimodal meme classification: datasets, tasks</a:t>
                      </a:r>
                      <a:endParaRPr lang="en-US" altLang="en-GB" sz="15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en-GB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Advances fusion models; social subset</a:t>
                      </a:r>
                      <a:r>
                        <a:rPr lang="en-IN" altLang="en-US" sz="15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IN" altLang="en-US" sz="15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Multi-aspect meme classification (humour, hate</a:t>
                      </a:r>
                      <a:r>
                        <a:rPr lang="en-IN" altLang="en-US" sz="15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altLang="en-US" sz="15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6957"/>
            <a:ext cx="8229600" cy="80826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Scope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95" y="958850"/>
            <a:ext cx="8542655" cy="5540375"/>
          </a:xfrm>
        </p:spPr>
        <p:txBody>
          <a:bodyPr>
            <a:normAutofit/>
          </a:bodyPr>
          <a:lstStyle/>
          <a:p>
            <a:pPr algn="just"/>
            <a:r>
              <a:rPr lang="en-US" alt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will focus on short video memes, analyzing frames, audio, and text to detect tones like humor, sarcasm, motivation, or offensiveness.</a:t>
            </a:r>
            <a:endParaRPr lang="en-US" alt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include a prototype app that also generates captions in the same tone.</a:t>
            </a:r>
            <a:endParaRPr lang="en-US" alt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applied in social media moderation, content creation, and digital marketing.</a:t>
            </a:r>
            <a:endParaRPr lang="en-US" alt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FF0000"/>
                </a:solidFill>
              </a:rPr>
              <a:t>Objectives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090" y="1600200"/>
            <a:ext cx="8220710" cy="4526280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endParaRPr lang="en-US" altLang="en-GB" sz="2400" dirty="0">
              <a:solidFill>
                <a:srgbClr val="3C3C3C"/>
              </a:solidFill>
            </a:endParaRPr>
          </a:p>
          <a:p>
            <a:pPr marL="457200" lvl="0" indent="-457200" algn="just">
              <a:buAutoNum type="arabicPeriod"/>
            </a:pPr>
            <a:r>
              <a:rPr lang="en-US" altLang="en-GB" sz="2800" dirty="0">
                <a:solidFill>
                  <a:srgbClr val="3C3C3C"/>
                </a:solidFill>
              </a:rPr>
              <a:t>To develop a model that looks at both visuals and speech </a:t>
            </a:r>
            <a:r>
              <a:rPr lang="en-IN" altLang="en-US" sz="2800" dirty="0">
                <a:solidFill>
                  <a:srgbClr val="3C3C3C"/>
                </a:solidFill>
              </a:rPr>
              <a:t>of video </a:t>
            </a:r>
            <a:r>
              <a:rPr lang="en-US" altLang="en-GB" sz="2800" dirty="0">
                <a:solidFill>
                  <a:srgbClr val="3C3C3C"/>
                </a:solidFill>
              </a:rPr>
              <a:t>together to detect the  </a:t>
            </a:r>
            <a:r>
              <a:rPr lang="en-IN" altLang="en-US" sz="2800" dirty="0">
                <a:solidFill>
                  <a:srgbClr val="3C3C3C"/>
                </a:solidFill>
              </a:rPr>
              <a:t>emotions.</a:t>
            </a:r>
            <a:endParaRPr lang="en-US" altLang="en-GB" sz="2800" dirty="0">
              <a:solidFill>
                <a:srgbClr val="3C3C3C"/>
              </a:solidFill>
            </a:endParaRPr>
          </a:p>
          <a:p>
            <a:pPr marL="457200" lvl="0" indent="-457200" algn="just">
              <a:buAutoNum type="arabicPeriod"/>
            </a:pPr>
            <a:endParaRPr lang="en-US" altLang="en-GB" sz="2800" dirty="0">
              <a:solidFill>
                <a:srgbClr val="3C3C3C"/>
              </a:solidFill>
            </a:endParaRPr>
          </a:p>
          <a:p>
            <a:pPr marL="457200" lvl="0" indent="-457200" algn="just">
              <a:buAutoNum type="arabicPeriod"/>
            </a:pPr>
            <a:endParaRPr lang="en-US" altLang="en-GB" sz="2800" dirty="0">
              <a:solidFill>
                <a:srgbClr val="3C3C3C"/>
              </a:solidFill>
            </a:endParaRPr>
          </a:p>
          <a:p>
            <a:pPr marL="457200" lvl="0" indent="-457200" algn="just">
              <a:buAutoNum type="arabicPeriod"/>
            </a:pPr>
            <a:r>
              <a:rPr lang="en-US" altLang="en-GB" sz="2800" dirty="0">
                <a:solidFill>
                  <a:srgbClr val="3C3C3C"/>
                </a:solidFill>
              </a:rPr>
              <a:t> To add Generative AI that creates smart captions matching the same tone of the video.</a:t>
            </a:r>
            <a:endParaRPr lang="en-US" altLang="en-GB" sz="2800" dirty="0">
              <a:solidFill>
                <a:srgbClr val="3C3C3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055"/>
            <a:ext cx="8229600" cy="71183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Requirements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795" y="766445"/>
            <a:ext cx="8295005" cy="5818505"/>
          </a:xfrm>
        </p:spPr>
        <p:txBody>
          <a:bodyPr>
            <a:normAutofit fontScale="25000"/>
          </a:bodyPr>
          <a:lstStyle/>
          <a:p>
            <a:pPr>
              <a:lnSpc>
                <a:spcPct val="200000"/>
              </a:lnSpc>
            </a:pPr>
            <a:r>
              <a:rPr lang="en-US" alt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3.9+</a:t>
            </a:r>
            <a:endParaRPr lang="en-US" altLang="en-GB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IDE/Editors: Jupyter Notebook, VS Code</a:t>
            </a:r>
            <a:endParaRPr lang="en-US" altLang="en-GB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/ MoviePy </a:t>
            </a:r>
            <a:r>
              <a:rPr lang="en-US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video and audio extraction</a:t>
            </a:r>
            <a:endParaRPr lang="en-US" altLang="en-GB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 (BLIP-2, Wav2Vec2, GPT, etc.) </a:t>
            </a:r>
            <a:r>
              <a:rPr lang="en-US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AI models</a:t>
            </a:r>
            <a:endParaRPr lang="en-US" altLang="en-GB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EasyOCR </a:t>
            </a:r>
            <a:r>
              <a:rPr lang="en-US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extraction from frames</a:t>
            </a:r>
            <a:endParaRPr lang="en-US" altLang="en-GB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KeyBERT </a:t>
            </a:r>
            <a:r>
              <a:rPr lang="en-US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keyword extraction</a:t>
            </a:r>
            <a:endParaRPr lang="en-US" altLang="en-GB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594995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rgbClr val="FF0000"/>
                </a:solidFill>
              </a:rPr>
              <a:t>Methodology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-298450" y="11341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en-US"/>
          </a:p>
        </p:txBody>
      </p:sp>
      <p:sp>
        <p:nvSpPr>
          <p:cNvPr id="6" name="Flowchart: Alternate Process 5"/>
          <p:cNvSpPr/>
          <p:nvPr/>
        </p:nvSpPr>
        <p:spPr>
          <a:xfrm>
            <a:off x="3171190" y="1010285"/>
            <a:ext cx="2642235" cy="39624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IN" altLang="en-GB"/>
              <a:t>MEME GIF/VIDEO INPUT</a:t>
            </a:r>
            <a:endParaRPr lang="en-IN" altLang="en-GB"/>
          </a:p>
        </p:txBody>
      </p:sp>
      <p:sp>
        <p:nvSpPr>
          <p:cNvPr id="7" name="Flowchart: Alternate Process 6"/>
          <p:cNvSpPr/>
          <p:nvPr/>
        </p:nvSpPr>
        <p:spPr>
          <a:xfrm>
            <a:off x="3037840" y="1833245"/>
            <a:ext cx="3049270" cy="366395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IN" altLang="en-GB"/>
              <a:t>EXTRACT VISUALS AND TEXT</a:t>
            </a:r>
            <a:endParaRPr lang="en-IN" altLang="en-GB"/>
          </a:p>
        </p:txBody>
      </p:sp>
      <p:sp>
        <p:nvSpPr>
          <p:cNvPr id="11" name="Flowchart: Alternate Process 10"/>
          <p:cNvSpPr/>
          <p:nvPr/>
        </p:nvSpPr>
        <p:spPr>
          <a:xfrm>
            <a:off x="3256915" y="2453005"/>
            <a:ext cx="2556510" cy="361315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IN" altLang="en-GB"/>
              <a:t>TONE UNDERSTANDING</a:t>
            </a:r>
            <a:endParaRPr lang="en-IN" altLang="en-GB"/>
          </a:p>
        </p:txBody>
      </p:sp>
      <p:sp>
        <p:nvSpPr>
          <p:cNvPr id="12" name="Flowchart: Alternate Process 11"/>
          <p:cNvSpPr/>
          <p:nvPr/>
        </p:nvSpPr>
        <p:spPr>
          <a:xfrm>
            <a:off x="2749550" y="5519420"/>
            <a:ext cx="3392805" cy="436245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IN" altLang="en-GB"/>
              <a:t>DISPLAY DETECTED EMOTIONS</a:t>
            </a:r>
            <a:endParaRPr lang="en-IN" altLang="en-GB"/>
          </a:p>
        </p:txBody>
      </p:sp>
      <p:sp>
        <p:nvSpPr>
          <p:cNvPr id="13" name="Flowchart: Decision 12"/>
          <p:cNvSpPr/>
          <p:nvPr/>
        </p:nvSpPr>
        <p:spPr>
          <a:xfrm>
            <a:off x="3101340" y="3130550"/>
            <a:ext cx="2782570" cy="2059305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IN" altLang="en-GB"/>
              <a:t>TONE=</a:t>
            </a:r>
            <a:endParaRPr lang="en-IN" altLang="en-GB"/>
          </a:p>
          <a:p>
            <a:r>
              <a:rPr lang="en-IN" altLang="en-GB" sz="1600"/>
              <a:t>HUMOROUS,SARCASTIC,EMOTIONAL,ECT</a:t>
            </a:r>
            <a:endParaRPr lang="en-IN" altLang="en-GB" sz="1600"/>
          </a:p>
        </p:txBody>
      </p:sp>
      <p:cxnSp>
        <p:nvCxnSpPr>
          <p:cNvPr id="15" name="Straight Arrow Connector 14"/>
          <p:cNvCxnSpPr>
            <a:stCxn id="7" idx="2"/>
            <a:endCxn id="7" idx="2"/>
          </p:cNvCxnSpPr>
          <p:nvPr/>
        </p:nvCxnSpPr>
        <p:spPr>
          <a:xfrm>
            <a:off x="4562475" y="219964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6" idx="2"/>
          </p:cNvCxnSpPr>
          <p:nvPr/>
        </p:nvCxnSpPr>
        <p:spPr>
          <a:xfrm>
            <a:off x="4492625" y="1406525"/>
            <a:ext cx="7620" cy="4267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475480" y="2219325"/>
            <a:ext cx="17145" cy="247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465320" y="2853690"/>
            <a:ext cx="10160" cy="2374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3" idx="2"/>
          </p:cNvCxnSpPr>
          <p:nvPr/>
        </p:nvCxnSpPr>
        <p:spPr>
          <a:xfrm>
            <a:off x="4492625" y="5189855"/>
            <a:ext cx="0" cy="3295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11" idx="1"/>
            <a:endCxn id="12" idx="1"/>
          </p:cNvCxnSpPr>
          <p:nvPr/>
        </p:nvCxnSpPr>
        <p:spPr>
          <a:xfrm rot="10800000" flipV="1">
            <a:off x="2748915" y="2633980"/>
            <a:ext cx="507365" cy="3103880"/>
          </a:xfrm>
          <a:prstGeom prst="bentConnector3">
            <a:avLst>
              <a:gd name="adj1" fmla="val 14693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4311650" y="2853055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/>
            <a:r>
              <a:rPr lang="en-IN" altLang="en-GB"/>
              <a:t>True</a:t>
            </a:r>
            <a:endParaRPr lang="en-IN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1544955" y="3221355"/>
            <a:ext cx="711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False</a:t>
            </a:r>
            <a:endParaRPr lang="en-IN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100648"/>
            <a:ext cx="8229600" cy="1143000"/>
          </a:xfrm>
        </p:spPr>
        <p:txBody>
          <a:bodyPr/>
          <a:lstStyle/>
          <a:p>
            <a:r>
              <a:rPr sz="3600" b="1" dirty="0">
                <a:solidFill>
                  <a:srgbClr val="FF0000"/>
                </a:solidFill>
              </a:rPr>
              <a:t>Expecte</a:t>
            </a:r>
            <a:r>
              <a:rPr lang="en-IN" sz="3600" b="1" dirty="0">
                <a:solidFill>
                  <a:srgbClr val="FF0000"/>
                </a:solidFill>
              </a:rPr>
              <a:t>d Outcomes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415" y="1016000"/>
            <a:ext cx="8229600" cy="4525963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en-GB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altLang="en-US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</a:t>
            </a:r>
            <a:r>
              <a:rPr lang="en-US" altLang="en-GB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short video memes and accurately detects their emotions by combining video, audio, and text, also generating captions that match the same </a:t>
            </a:r>
            <a:r>
              <a:rPr lang="en-IN" altLang="en-US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emotions</a:t>
            </a:r>
            <a:r>
              <a:rPr lang="en-US" altLang="en-GB" sz="2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GB" sz="28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en-GB" sz="28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755"/>
            <a:ext cx="8229600" cy="1035050"/>
          </a:xfrm>
        </p:spPr>
        <p:txBody>
          <a:bodyPr/>
          <a:lstStyle/>
          <a:p>
            <a:r>
              <a:rPr sz="3600" b="1" dirty="0">
                <a:solidFill>
                  <a:srgbClr val="FF0000"/>
                </a:solidFill>
              </a:rPr>
              <a:t>Conclusion &amp; References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845" y="1175385"/>
            <a:ext cx="8672195" cy="5392420"/>
          </a:xfrm>
        </p:spPr>
        <p:txBody>
          <a:bodyPr>
            <a:normAutofit fontScale="25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en-GB" sz="8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Memesense offers a smart and creative way to understand the emotions behind memes and videos. It’s an affordable, easy-to-use system that not only detects tones </a:t>
            </a:r>
            <a:r>
              <a:rPr lang="en-IN" altLang="en-US" sz="8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emotions</a:t>
            </a:r>
            <a:r>
              <a:rPr lang="en-US" altLang="en-GB" sz="8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but also generates matching captions, making it valuable for content creators, marketers, and online safety.</a:t>
            </a:r>
            <a:endParaRPr lang="en-US" altLang="en-GB" sz="800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en-GB" sz="8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en-IN" altLang="en-US" sz="8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altLang="en-US" sz="8000" b="1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en-GB" sz="8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this project can be taken further to:Work in real time on live social media videos.Handle regional languages and slang.Detect more complex tones like irony or</a:t>
            </a:r>
            <a:r>
              <a:rPr lang="en-IN" altLang="en-US" sz="8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8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 emotions.Run as a mobile app so anyone can use it easily</a:t>
            </a:r>
            <a:r>
              <a:rPr lang="en-IN" altLang="en-US" sz="8000" dirty="0">
                <a:solidFill>
                  <a:srgbClr val="3C3C3C"/>
                </a:solidFill>
              </a:rPr>
              <a:t>.</a:t>
            </a:r>
            <a:endParaRPr lang="en-IN" altLang="en-US" sz="8000" dirty="0">
              <a:solidFill>
                <a:srgbClr val="3C3C3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170" y="1083310"/>
            <a:ext cx="8455025" cy="4238625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 Khanday, A. M. U. D., &amp; Rabani, S. T. (2023). Meme Analysis Using LLM-Based Contextual Information and U-Net Encapsulated Transformer.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2. Vaswani, A. et al. (2017). Attention Is All You Need. NeurIPS.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3. Hugging Face (2025). Transformers Library. Available at: https://huggingface.co/transformers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4. OpenAI (2025). GPT Models and Applications. Available at: https://openai.com/research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5. Kaggle (2024). Meme and Video Datasets. Available at: https://www.kaggle.com/datasets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72465" y="387985"/>
            <a:ext cx="2443480" cy="537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3200" b="1" dirty="0" smtClean="0">
                <a:solidFill>
                  <a:srgbClr val="92D050"/>
                </a:solidFill>
                <a:sym typeface="+mn-ea"/>
              </a:rPr>
              <a:t>References</a:t>
            </a:r>
            <a:r>
              <a:rPr sz="3200" b="1" dirty="0">
                <a:solidFill>
                  <a:srgbClr val="92D050"/>
                </a:solidFill>
                <a:sym typeface="+mn-ea"/>
              </a:rPr>
              <a:t>:</a:t>
            </a:r>
            <a:endParaRPr sz="3200" b="1" dirty="0">
              <a:solidFill>
                <a:srgbClr val="92D050"/>
              </a:solidFill>
            </a:endParaRPr>
          </a:p>
          <a:p>
            <a:endParaRPr lang="en-GB" altLang="en-US"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olidFill>
                  <a:srgbClr val="FF0000"/>
                </a:solidFill>
              </a:rPr>
              <a:t>Results</a:t>
            </a:r>
            <a:endParaRPr lang="en-IN" altLang="en-GB">
              <a:solidFill>
                <a:srgbClr val="FF0000"/>
              </a:solidFill>
            </a:endParaRPr>
          </a:p>
        </p:txBody>
      </p:sp>
      <p:pic>
        <p:nvPicPr>
          <p:cNvPr id="6" name="Content Placeholder 5" descr="firs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61720" y="2067560"/>
            <a:ext cx="7019290" cy="405892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061720" y="1318895"/>
            <a:ext cx="3810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1.O</a:t>
            </a:r>
            <a:r>
              <a:rPr lang="en-US" alt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pening gardio interface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econ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5830" y="1600200"/>
            <a:ext cx="7291705" cy="45262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25195" y="582930"/>
            <a:ext cx="3471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2.U</a:t>
            </a:r>
            <a:r>
              <a:rPr lang="en-US" alt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ploading 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thir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659255"/>
            <a:ext cx="8229600" cy="44075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53415" y="609600"/>
            <a:ext cx="3689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key Frames</a:t>
            </a:r>
            <a:endParaRPr lang="en-US" altLang="en-GB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four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6425" y="2878455"/>
            <a:ext cx="6654800" cy="19685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98170" y="1058545"/>
            <a:ext cx="4992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alt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</a:t>
            </a:r>
            <a:endParaRPr lang="en-US" altLang="en-GB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fifth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912745"/>
            <a:ext cx="8229600" cy="19005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56565" y="641350"/>
            <a:ext cx="3970655" cy="529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alt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Meme Explanation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ixth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8490" y="2814955"/>
            <a:ext cx="7905750" cy="20955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28015" y="1165860"/>
            <a:ext cx="3570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6.Sentiment Analysis</a:t>
            </a:r>
            <a:endParaRPr lang="en-IN" altLang="en-GB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49*495"/>
  <p:tag name="TABLE_ENDDRAG_RECT" val="37*21*649*495"/>
</p:tagLst>
</file>

<file path=ppt/tags/tag2.xml><?xml version="1.0" encoding="utf-8"?>
<p:tagLst xmlns:p="http://schemas.openxmlformats.org/presentationml/2006/main">
  <p:tag name="TABLE_ENDDRAG_ORIGIN_RECT" val="649*433"/>
  <p:tag name="TABLE_ENDDRAG_RECT" val="37*26*649*433"/>
</p:tagLst>
</file>

<file path=ppt/tags/tag3.xml><?xml version="1.0" encoding="utf-8"?>
<p:tagLst xmlns:p="http://schemas.openxmlformats.org/presentationml/2006/main">
  <p:tag name="TABLE_ENDDRAG_ORIGIN_RECT" val="644*416"/>
  <p:tag name="TABLE_ENDDRAG_RECT" val="41*26*644*416"/>
</p:tagLst>
</file>

<file path=ppt/tags/tag4.xml><?xml version="1.0" encoding="utf-8"?>
<p:tagLst xmlns:p="http://schemas.openxmlformats.org/presentationml/2006/main">
  <p:tag name="TABLE_ENDDRAG_ORIGIN_RECT" val="644*56"/>
  <p:tag name="TABLE_ENDDRAG_RECT" val="42*463*644*5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6464</Words>
  <Application>WPS Presentation</Application>
  <PresentationFormat>On-screen Show (4:3)</PresentationFormat>
  <Paragraphs>285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SimSun</vt:lpstr>
      <vt:lpstr>Wingdings</vt:lpstr>
      <vt:lpstr>Arial</vt:lpstr>
      <vt:lpstr>Times New Roman</vt:lpstr>
      <vt:lpstr>Computer Says No</vt:lpstr>
      <vt:lpstr>Segoe Print</vt:lpstr>
      <vt:lpstr>Calibri</vt:lpstr>
      <vt:lpstr>Microsoft YaHei</vt:lpstr>
      <vt:lpstr>Arial Unicode MS</vt:lpstr>
      <vt:lpstr>Office Theme</vt:lpstr>
      <vt:lpstr>PowerPoint 演示文稿</vt:lpstr>
      <vt:lpstr>Table of Content</vt:lpstr>
      <vt:lpstr>Introduction</vt:lpstr>
      <vt:lpstr>Literature Survey</vt:lpstr>
      <vt:lpstr>PowerPoint 演示文稿</vt:lpstr>
      <vt:lpstr>PowerPoint 演示文稿</vt:lpstr>
      <vt:lpstr>PowerPoint 演示文稿</vt:lpstr>
      <vt:lpstr>Scope</vt:lpstr>
      <vt:lpstr>Objectives</vt:lpstr>
      <vt:lpstr>Requirements</vt:lpstr>
      <vt:lpstr>Methodology</vt:lpstr>
      <vt:lpstr>Expected Outcomes</vt:lpstr>
      <vt:lpstr>Conclusion &amp; References</vt:lpstr>
      <vt:lpstr>PowerPoint 演示文稿</vt:lpstr>
      <vt:lpstr>Results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Rashmi Bhat</cp:lastModifiedBy>
  <cp:revision>76</cp:revision>
  <dcterms:created xsi:type="dcterms:W3CDTF">2013-01-27T09:14:00Z</dcterms:created>
  <dcterms:modified xsi:type="dcterms:W3CDTF">2025-12-05T04:28:31Z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983014F6DD784E3799743FB4F77A0B0B_12</vt:lpwstr>
  </property>
  <property fmtid="{D5CDD505-2E9C-101B-9397-08002B2CF9AE}" pid="3" name="KSOProductBuildVer">
    <vt:lpwstr>2057-12.2.0.23149</vt:lpwstr>
  </property>
</Properties>
</file>