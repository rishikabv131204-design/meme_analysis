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4" r:id="rId3"/>
    <p:sldId id="266" r:id="rId4"/>
    <p:sldId id="257" r:id="rId5"/>
    <p:sldId id="285" r:id="rId6"/>
    <p:sldId id="286" r:id="rId7"/>
    <p:sldId id="287" r:id="rId8"/>
    <p:sldId id="288" r:id="rId9"/>
    <p:sldId id="283" r:id="rId10"/>
    <p:sldId id="282" r:id="rId11"/>
    <p:sldId id="259" r:id="rId12"/>
    <p:sldId id="297" r:id="rId13"/>
    <p:sldId id="273" r:id="rId14"/>
    <p:sldId id="260" r:id="rId15"/>
    <p:sldId id="261" r:id="rId16"/>
    <p:sldId id="289" r:id="rId17"/>
    <p:sldId id="291" r:id="rId18"/>
    <p:sldId id="292" r:id="rId19"/>
    <p:sldId id="293" r:id="rId20"/>
    <p:sldId id="294" r:id="rId21"/>
    <p:sldId id="29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23" autoAdjust="0"/>
    <p:restoredTop sz="89804" autoAdjust="0"/>
  </p:normalViewPr>
  <p:slideViewPr>
    <p:cSldViewPr snapToGrid="0" snapToObjects="1" showGuides="1">
      <p:cViewPr varScale="1">
        <p:scale>
          <a:sx n="74" d="100"/>
          <a:sy n="74" d="100"/>
        </p:scale>
        <p:origin x="105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55693" y="1037827"/>
            <a:ext cx="4873578" cy="438582"/>
          </a:xfrm>
          <a:prstGeom prst="rect">
            <a:avLst/>
          </a:prstGeom>
        </p:spPr>
        <p:txBody>
          <a:bodyPr wrap="none">
            <a:spAutoFit/>
          </a:bodyPr>
          <a:lstStyle/>
          <a:p>
            <a:r>
              <a:rPr lang="en-IN" sz="2250" dirty="0">
                <a:latin typeface="Times New Roman" panose="02020603050405020304" pitchFamily="18" charset="0"/>
                <a:cs typeface="Times New Roman" panose="02020603050405020304" pitchFamily="18" charset="0"/>
              </a:rPr>
              <a:t>CANARA ENGINEERING COLLEGE </a:t>
            </a:r>
            <a:endParaRPr lang="en-IN" sz="2250" dirty="0"/>
          </a:p>
        </p:txBody>
      </p:sp>
      <p:sp>
        <p:nvSpPr>
          <p:cNvPr id="3" name="Rectangle 2"/>
          <p:cNvSpPr/>
          <p:nvPr/>
        </p:nvSpPr>
        <p:spPr>
          <a:xfrm>
            <a:off x="1884899" y="1566033"/>
            <a:ext cx="5567381" cy="715581"/>
          </a:xfrm>
          <a:prstGeom prst="rect">
            <a:avLst/>
          </a:prstGeom>
        </p:spPr>
        <p:txBody>
          <a:bodyPr wrap="square">
            <a:spAutoFit/>
          </a:bodyPr>
          <a:lstStyle/>
          <a:p>
            <a:pPr algn="ctr">
              <a:lnSpc>
                <a:spcPct val="150000"/>
              </a:lnSpc>
            </a:pPr>
            <a:r>
              <a:rPr lang="en-IN" sz="1350" dirty="0" err="1">
                <a:latin typeface="Times New Roman" panose="02020603050405020304" pitchFamily="18" charset="0"/>
                <a:cs typeface="Times New Roman" panose="02020603050405020304" pitchFamily="18" charset="0"/>
              </a:rPr>
              <a:t>Sudhindra</a:t>
            </a:r>
            <a:r>
              <a:rPr lang="en-IN" sz="1350" dirty="0">
                <a:latin typeface="Times New Roman" panose="02020603050405020304" pitchFamily="18" charset="0"/>
                <a:cs typeface="Times New Roman" panose="02020603050405020304" pitchFamily="18" charset="0"/>
              </a:rPr>
              <a:t> </a:t>
            </a:r>
            <a:r>
              <a:rPr lang="en-IN" sz="1350" dirty="0" err="1">
                <a:latin typeface="Times New Roman" panose="02020603050405020304" pitchFamily="18" charset="0"/>
                <a:cs typeface="Times New Roman" panose="02020603050405020304" pitchFamily="18" charset="0"/>
              </a:rPr>
              <a:t>Nagara</a:t>
            </a:r>
            <a:r>
              <a:rPr lang="en-IN" sz="1350" dirty="0">
                <a:latin typeface="Times New Roman" panose="02020603050405020304" pitchFamily="18" charset="0"/>
                <a:cs typeface="Times New Roman" panose="02020603050405020304" pitchFamily="18" charset="0"/>
              </a:rPr>
              <a:t>, </a:t>
            </a:r>
            <a:r>
              <a:rPr lang="en-IN" sz="1350" dirty="0" err="1">
                <a:latin typeface="Times New Roman" panose="02020603050405020304" pitchFamily="18" charset="0"/>
                <a:cs typeface="Times New Roman" panose="02020603050405020304" pitchFamily="18" charset="0"/>
              </a:rPr>
              <a:t>Benjanapadavu</a:t>
            </a:r>
            <a:r>
              <a:rPr lang="en-IN" sz="1350" dirty="0">
                <a:latin typeface="Times New Roman" panose="02020603050405020304" pitchFamily="18" charset="0"/>
                <a:cs typeface="Times New Roman" panose="02020603050405020304" pitchFamily="18" charset="0"/>
              </a:rPr>
              <a:t>, Mangalore– 574219, D.K Karnataka </a:t>
            </a:r>
            <a:endParaRPr lang="en-IN" sz="1350" dirty="0">
              <a:latin typeface="Times New Roman" panose="02020603050405020304" pitchFamily="18" charset="0"/>
              <a:cs typeface="Times New Roman" panose="02020603050405020304" pitchFamily="18" charset="0"/>
            </a:endParaRPr>
          </a:p>
          <a:p>
            <a:pPr algn="ctr">
              <a:lnSpc>
                <a:spcPct val="150000"/>
              </a:lnSpc>
            </a:pPr>
            <a:r>
              <a:rPr lang="en-IN" sz="1350" dirty="0">
                <a:latin typeface="Times New Roman" panose="02020603050405020304" pitchFamily="18" charset="0"/>
                <a:cs typeface="Times New Roman" panose="02020603050405020304" pitchFamily="18" charset="0"/>
              </a:rPr>
              <a:t> DEPARTMENT OF COMPUTER SCIENCE AND ENGINEERING</a:t>
            </a:r>
            <a:endParaRPr lang="en-IN" sz="1350" dirty="0">
              <a:latin typeface="Times New Roman" panose="02020603050405020304" pitchFamily="18" charset="0"/>
              <a:cs typeface="Times New Roman" panose="02020603050405020304" pitchFamily="18" charset="0"/>
            </a:endParaRPr>
          </a:p>
        </p:txBody>
      </p:sp>
      <p:sp>
        <p:nvSpPr>
          <p:cNvPr id="6" name="Rectangle 5"/>
          <p:cNvSpPr/>
          <p:nvPr/>
        </p:nvSpPr>
        <p:spPr>
          <a:xfrm>
            <a:off x="75665" y="2196675"/>
            <a:ext cx="9333781" cy="1338828"/>
          </a:xfrm>
          <a:prstGeom prst="rect">
            <a:avLst/>
          </a:prstGeom>
        </p:spPr>
        <p:txBody>
          <a:bodyPr wrap="square">
            <a:spAutoFit/>
          </a:bodyPr>
          <a:lstStyle/>
          <a:p>
            <a:pPr algn="ctr"/>
            <a:r>
              <a:rPr lang="en-IN" sz="45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AI-Powered Cognitive Map for Enhanced Learning</a:t>
            </a:r>
            <a:endParaRPr lang="en-IN" sz="3600" dirty="0">
              <a:latin typeface="Times New Roman" panose="02020603050405020304" pitchFamily="18" charset="0"/>
              <a:cs typeface="Times New Roman" panose="02020603050405020304" pitchFamily="18" charset="0"/>
            </a:endParaRPr>
          </a:p>
        </p:txBody>
      </p:sp>
      <p:sp>
        <p:nvSpPr>
          <p:cNvPr id="7" name="Rectangle 6"/>
          <p:cNvSpPr/>
          <p:nvPr/>
        </p:nvSpPr>
        <p:spPr>
          <a:xfrm>
            <a:off x="2543671" y="3925246"/>
            <a:ext cx="3435556" cy="1200329"/>
          </a:xfrm>
          <a:prstGeom prst="rect">
            <a:avLst/>
          </a:prstGeom>
        </p:spPr>
        <p:txBody>
          <a:bodyPr wrap="none">
            <a:spAutoFit/>
          </a:bodyPr>
          <a:lstStyle/>
          <a:p>
            <a:r>
              <a:rPr lang="en-IN" dirty="0">
                <a:latin typeface="Times New Roman" panose="02020603050405020304" pitchFamily="18" charset="0"/>
                <a:cs typeface="Times New Roman" panose="02020603050405020304" pitchFamily="18" charset="0"/>
              </a:rPr>
              <a:t>Team ID:CEC/CSE/2026-27/P-51</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Name USN: Tharini 4CB23CS171,</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Sookta 4CB23CS156,</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Sneha 4CB23CS155.</a:t>
            </a:r>
            <a:endParaRPr lang="en-IN" dirty="0">
              <a:latin typeface="Times New Roman" panose="02020603050405020304" pitchFamily="18" charset="0"/>
              <a:cs typeface="Times New Roman" panose="02020603050405020304" pitchFamily="18" charset="0"/>
            </a:endParaRPr>
          </a:p>
        </p:txBody>
      </p:sp>
      <p:pic>
        <p:nvPicPr>
          <p:cNvPr id="9" name="Picture 8" descr="Kamadhenu Logo.jpg"/>
          <p:cNvPicPr/>
          <p:nvPr/>
        </p:nvPicPr>
        <p:blipFill>
          <a:blip r:embed="rId1">
            <a:extLst>
              <a:ext uri="{28A0092B-C50C-407E-A947-70E740481C1C}">
                <a14:useLocalDpi xmlns:a14="http://schemas.microsoft.com/office/drawing/2010/main" val="0"/>
              </a:ext>
            </a:extLst>
          </a:blip>
          <a:srcRect/>
          <a:stretch>
            <a:fillRect/>
          </a:stretch>
        </p:blipFill>
        <p:spPr bwMode="auto">
          <a:xfrm>
            <a:off x="371986" y="1080083"/>
            <a:ext cx="816735" cy="848391"/>
          </a:xfrm>
          <a:prstGeom prst="rect">
            <a:avLst/>
          </a:prstGeom>
          <a:noFill/>
          <a:ln>
            <a:noFill/>
          </a:ln>
        </p:spPr>
      </p:pic>
      <p:pic>
        <p:nvPicPr>
          <p:cNvPr id="10" name="Picture 9" descr="Ammembal Logo.jpg"/>
          <p:cNvPicPr/>
          <p:nvPr/>
        </p:nvPicPr>
        <p:blipFill>
          <a:blip r:embed="rId2">
            <a:extLst>
              <a:ext uri="{28A0092B-C50C-407E-A947-70E740481C1C}">
                <a14:useLocalDpi xmlns:a14="http://schemas.microsoft.com/office/drawing/2010/main" val="0"/>
              </a:ext>
            </a:extLst>
          </a:blip>
          <a:srcRect/>
          <a:stretch>
            <a:fillRect/>
          </a:stretch>
        </p:blipFill>
        <p:spPr bwMode="auto">
          <a:xfrm>
            <a:off x="7910821" y="1060419"/>
            <a:ext cx="778669" cy="785813"/>
          </a:xfrm>
          <a:prstGeom prst="rect">
            <a:avLst/>
          </a:prstGeom>
          <a:noFill/>
          <a:ln>
            <a:noFill/>
          </a:ln>
        </p:spPr>
      </p:pic>
      <p:sp>
        <p:nvSpPr>
          <p:cNvPr id="11" name="Rectangle 10"/>
          <p:cNvSpPr/>
          <p:nvPr/>
        </p:nvSpPr>
        <p:spPr>
          <a:xfrm>
            <a:off x="6391602" y="4978622"/>
            <a:ext cx="2669705" cy="923330"/>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Under the  guidance of</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Ms. Bhavana D</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Assistant Professor, CS&amp;E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latin typeface="Copperplate Gothic Bold" panose="020E0705020206020404" pitchFamily="34" charset="0"/>
              </a:rPr>
              <a:t>Table of Contents:</a:t>
            </a:r>
            <a:endParaRPr b="1" dirty="0">
              <a:solidFill>
                <a:srgbClr val="FF0000"/>
              </a:solidFill>
              <a:latin typeface="Copperplate Gothic Bold" panose="020E0705020206020404" pitchFamily="34" charset="0"/>
            </a:endParaRPr>
          </a:p>
        </p:txBody>
      </p:sp>
      <p:sp>
        <p:nvSpPr>
          <p:cNvPr id="3" name="Content Placeholder 2"/>
          <p:cNvSpPr>
            <a:spLocks noGrp="1"/>
          </p:cNvSpPr>
          <p:nvPr>
            <p:ph idx="1"/>
          </p:nvPr>
        </p:nvSpPr>
        <p:spPr/>
        <p:txBody>
          <a:bodyPr>
            <a:normAutofit lnSpcReduction="10000"/>
          </a:bodyPr>
          <a:lstStyle/>
          <a:p>
            <a:r>
              <a:rPr lang="en-US" sz="2800" dirty="0">
                <a:solidFill>
                  <a:srgbClr val="3C3C3C"/>
                </a:solidFill>
              </a:rPr>
              <a:t>Introduction</a:t>
            </a:r>
            <a:endParaRPr lang="en-US" sz="2800" dirty="0">
              <a:solidFill>
                <a:srgbClr val="3C3C3C"/>
              </a:solidFill>
            </a:endParaRPr>
          </a:p>
          <a:p>
            <a:r>
              <a:rPr lang="en-US" sz="2800" dirty="0">
                <a:solidFill>
                  <a:srgbClr val="3C3C3C"/>
                </a:solidFill>
              </a:rPr>
              <a:t>Literature Survey</a:t>
            </a:r>
            <a:endParaRPr lang="en-US" sz="2800" dirty="0">
              <a:solidFill>
                <a:srgbClr val="3C3C3C"/>
              </a:solidFill>
            </a:endParaRPr>
          </a:p>
          <a:p>
            <a:r>
              <a:rPr lang="en-US" sz="2800" dirty="0">
                <a:solidFill>
                  <a:srgbClr val="3C3C3C"/>
                </a:solidFill>
              </a:rPr>
              <a:t>Research Gap</a:t>
            </a:r>
            <a:endParaRPr lang="en-US" sz="2800" dirty="0">
              <a:solidFill>
                <a:srgbClr val="3C3C3C"/>
              </a:solidFill>
            </a:endParaRPr>
          </a:p>
          <a:p>
            <a:r>
              <a:rPr lang="en-US" sz="2800" dirty="0">
                <a:solidFill>
                  <a:srgbClr val="3C3C3C"/>
                </a:solidFill>
              </a:rPr>
              <a:t>Problem Statement</a:t>
            </a:r>
            <a:endParaRPr lang="en-US" sz="2800" dirty="0">
              <a:solidFill>
                <a:srgbClr val="3C3C3C"/>
              </a:solidFill>
            </a:endParaRPr>
          </a:p>
          <a:p>
            <a:r>
              <a:rPr lang="en-US" sz="2800" dirty="0">
                <a:solidFill>
                  <a:srgbClr val="3C3C3C"/>
                </a:solidFill>
              </a:rPr>
              <a:t>Objectives</a:t>
            </a:r>
            <a:endParaRPr lang="en-US" sz="2800" dirty="0">
              <a:solidFill>
                <a:srgbClr val="3C3C3C"/>
              </a:solidFill>
            </a:endParaRPr>
          </a:p>
          <a:p>
            <a:r>
              <a:rPr lang="en-US" sz="2800" dirty="0">
                <a:solidFill>
                  <a:srgbClr val="3C3C3C"/>
                </a:solidFill>
              </a:rPr>
              <a:t>Scope</a:t>
            </a:r>
            <a:endParaRPr lang="en-US" sz="2800" dirty="0">
              <a:solidFill>
                <a:srgbClr val="3C3C3C"/>
              </a:solidFill>
            </a:endParaRPr>
          </a:p>
          <a:p>
            <a:r>
              <a:rPr lang="en-US" sz="2800" dirty="0">
                <a:solidFill>
                  <a:srgbClr val="3C3C3C"/>
                </a:solidFill>
              </a:rPr>
              <a:t>Requirement</a:t>
            </a:r>
            <a:endParaRPr lang="en-US" sz="2800" dirty="0">
              <a:solidFill>
                <a:srgbClr val="3C3C3C"/>
              </a:solidFill>
            </a:endParaRPr>
          </a:p>
          <a:p>
            <a:r>
              <a:rPr lang="en-US" sz="2800" dirty="0">
                <a:solidFill>
                  <a:srgbClr val="3C3C3C"/>
                </a:solidFill>
              </a:rPr>
              <a:t>Methodology</a:t>
            </a:r>
            <a:endParaRPr lang="en-US" sz="2800" dirty="0">
              <a:solidFill>
                <a:srgbClr val="3C3C3C"/>
              </a:solidFill>
            </a:endParaRPr>
          </a:p>
          <a:p>
            <a:r>
              <a:rPr lang="en-US" sz="2800" dirty="0">
                <a:solidFill>
                  <a:srgbClr val="3C3C3C"/>
                </a:solidFill>
              </a:rPr>
              <a:t>Expected Results</a:t>
            </a:r>
            <a:endParaRPr lang="en-US" sz="2800" dirty="0">
              <a:solidFill>
                <a:srgbClr val="3C3C3C"/>
              </a:solidFill>
            </a:endParaRPr>
          </a:p>
          <a:p>
            <a:pPr marL="0" indent="0">
              <a:buNone/>
            </a:pPr>
            <a:endParaRPr lang="en-US" sz="2800" dirty="0">
              <a:solidFill>
                <a:srgbClr val="3C3C3C"/>
              </a:solidFill>
            </a:endParaRPr>
          </a:p>
          <a:p>
            <a:pPr marL="0" indent="0">
              <a:buNone/>
            </a:pPr>
            <a:endParaRPr sz="2000" dirty="0">
              <a:solidFill>
                <a:srgbClr val="3C3C3C"/>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181" y="-96269"/>
            <a:ext cx="8229600" cy="1143000"/>
          </a:xfrm>
        </p:spPr>
        <p:txBody>
          <a:bodyPr>
            <a:normAutofit/>
          </a:bodyPr>
          <a:lstStyle/>
          <a:p>
            <a:r>
              <a:rPr b="1" dirty="0">
                <a:solidFill>
                  <a:srgbClr val="FF0000"/>
                </a:solidFill>
                <a:latin typeface="Copperplate Gothic Bold" panose="020E0705020206020404" pitchFamily="34" charset="0"/>
              </a:rPr>
              <a:t>Introduction</a:t>
            </a:r>
            <a:endParaRPr b="1" dirty="0">
              <a:solidFill>
                <a:srgbClr val="FF0000"/>
              </a:solidFill>
              <a:latin typeface="Copperplate Gothic Bold" panose="020E0705020206020404" pitchFamily="34" charset="0"/>
            </a:endParaRPr>
          </a:p>
        </p:txBody>
      </p:sp>
      <p:sp>
        <p:nvSpPr>
          <p:cNvPr id="5" name="Content Placeholder 4"/>
          <p:cNvSpPr txBox="1">
            <a:spLocks noGrp="1"/>
          </p:cNvSpPr>
          <p:nvPr>
            <p:ph idx="1"/>
          </p:nvPr>
        </p:nvSpPr>
        <p:spPr>
          <a:xfrm>
            <a:off x="342181" y="1286143"/>
            <a:ext cx="8382000" cy="4708981"/>
          </a:xfrm>
          <a:prstGeom prst="rect">
            <a:avLst/>
          </a:prstGeom>
          <a:noFill/>
        </p:spPr>
        <p:txBody>
          <a:bodyPr wrap="square" rtlCol="0">
            <a:spAutoFit/>
          </a:bodyPr>
          <a:lstStyle/>
          <a:p>
            <a:pPr marL="0" indent="0" algn="just">
              <a:buNone/>
            </a:pPr>
            <a:r>
              <a:rPr lang="en-US" sz="2500" dirty="0"/>
              <a:t>In today’s academic environment, students often struggle with large volumes of study material, limited doubt-clarification, and tools that do not adapt to their individual learning pace. While AI is rapidly transforming the education sector, many existing platforms still rely on static content and fail to offer real-time personalization or meaningful guidance. This project addresses these challenges by developing an AI-powered system that analyzes academic materials, extracts key concepts, and presents them as interactive visual maps. Along with instant explanations, personalized support, and intelligent feedback, the system aims to help students learn more effectively, confidently, and efficiently.</a:t>
            </a:r>
            <a:endParaRPr lang="en-IN" sz="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457199" y="-198084"/>
            <a:ext cx="8229600" cy="82294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sz="3600" b="1" dirty="0">
                <a:solidFill>
                  <a:srgbClr val="FF0000"/>
                </a:solidFill>
                <a:latin typeface="Copperplate Gothic Bold" panose="020E0705020206020404" pitchFamily="34" charset="0"/>
              </a:rPr>
              <a:t>Literature Survey</a:t>
            </a:r>
            <a:endParaRPr lang="en-IN" sz="3600" b="1" dirty="0">
              <a:solidFill>
                <a:srgbClr val="FF0000"/>
              </a:solidFill>
              <a:latin typeface="Copperplate Gothic Bold" panose="020E0705020206020404" pitchFamily="34" charset="0"/>
            </a:endParaRPr>
          </a:p>
        </p:txBody>
      </p:sp>
      <p:graphicFrame>
        <p:nvGraphicFramePr>
          <p:cNvPr id="7" name="Table 6"/>
          <p:cNvGraphicFramePr>
            <a:graphicFrameLocks noGrp="1"/>
          </p:cNvGraphicFramePr>
          <p:nvPr/>
        </p:nvGraphicFramePr>
        <p:xfrm>
          <a:off x="0" y="596901"/>
          <a:ext cx="9144002" cy="6126480"/>
        </p:xfrm>
        <a:graphic>
          <a:graphicData uri="http://schemas.openxmlformats.org/drawingml/2006/table">
            <a:tbl>
              <a:tblPr firstRow="1" bandRow="1">
                <a:tableStyleId>{5C22544A-7EE6-4342-B048-85BDC9FD1C3A}</a:tableStyleId>
              </a:tblPr>
              <a:tblGrid>
                <a:gridCol w="1427766"/>
                <a:gridCol w="2089157"/>
                <a:gridCol w="1784707"/>
                <a:gridCol w="2074530"/>
                <a:gridCol w="1767842"/>
              </a:tblGrid>
              <a:tr h="640032">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Author/Year</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Study/Work</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Method Used</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Key Result</a:t>
                      </a:r>
                      <a:endParaRPr lang="en-IN" dirty="0"/>
                    </a:p>
                    <a:p>
                      <a:endParaRPr lang="en-IN" dirty="0"/>
                    </a:p>
                  </a:txBody>
                  <a:tcPr/>
                </a:tc>
                <a:tc>
                  <a:txBody>
                    <a:bodyPr/>
                    <a:lstStyle/>
                    <a:p>
                      <a:r>
                        <a:rPr lang="en-US" dirty="0"/>
                        <a:t>Limitation</a:t>
                      </a:r>
                      <a:endParaRPr lang="en-IN" dirty="0"/>
                    </a:p>
                  </a:txBody>
                  <a:tcPr/>
                </a:tc>
              </a:tr>
              <a:tr h="1462929">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1.</a:t>
                      </a:r>
                      <a:r>
                        <a:rPr lang="en-IN" dirty="0"/>
                        <a:t> Jonathan Schuster et.al,2025</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Learning Maps as Cognitive Models for Instruction and Assessment</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Research synthesis and cognitive modeling</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Validated and effective for instruction</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Complex and hard to implement</a:t>
                      </a:r>
                      <a:endParaRPr lang="en-IN" dirty="0"/>
                    </a:p>
                    <a:p>
                      <a:endParaRPr lang="en-IN" dirty="0"/>
                    </a:p>
                  </a:txBody>
                  <a:tcPr/>
                </a:tc>
              </a:tr>
              <a:tr h="2011528">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2.</a:t>
                      </a:r>
                      <a:r>
                        <a:rPr lang="en-IN" dirty="0"/>
                        <a:t> Khanyisile Twabu,2025</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Enhancing the cognitive load theory and multimedia learning framework with AI insight</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IN" dirty="0"/>
                        <a:t>Conceptual framework integrating AI + CLT + CTML</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Proposed AI-enhanced model for </a:t>
                      </a:r>
                      <a:r>
                        <a:rPr lang="en-US" dirty="0" err="1"/>
                        <a:t>personalised</a:t>
                      </a:r>
                      <a:r>
                        <a:rPr lang="en-US" dirty="0"/>
                        <a:t> learning</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No empirical testing, purely theoretical</a:t>
                      </a:r>
                      <a:endParaRPr lang="en-IN" dirty="0"/>
                    </a:p>
                    <a:p>
                      <a:endParaRPr lang="en-IN" dirty="0"/>
                    </a:p>
                  </a:txBody>
                  <a:tcPr/>
                </a:tc>
              </a:tr>
              <a:tr h="2011528">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3.</a:t>
                      </a:r>
                      <a:r>
                        <a:rPr lang="en-IN" dirty="0"/>
                        <a:t> Joe Barrow et.al,2024</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err="1"/>
                        <a:t>PDFTriage</a:t>
                      </a:r>
                      <a:r>
                        <a:rPr lang="en-US" dirty="0"/>
                        <a:t>: Question Answering over Long, Structured Documents</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Structured document retrieval using PDF metadata and LLM-based triage</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Improved accuracy and readability in question answering over long, structured PDFs compared to retrieval baselines.</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Lack of empirical testing on larger, diverse datasets.</a:t>
                      </a:r>
                      <a:endParaRPr lang="en-IN" dirty="0"/>
                    </a:p>
                    <a:p>
                      <a:endParaRPr lang="en-IN" dirty="0"/>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97427" y="212435"/>
          <a:ext cx="8749145" cy="6515631"/>
        </p:xfrm>
        <a:graphic>
          <a:graphicData uri="http://schemas.openxmlformats.org/drawingml/2006/table">
            <a:tbl>
              <a:tblPr firstRow="1" bandRow="1">
                <a:tableStyleId>{5C22544A-7EE6-4342-B048-85BDC9FD1C3A}</a:tableStyleId>
              </a:tblPr>
              <a:tblGrid>
                <a:gridCol w="1749829"/>
                <a:gridCol w="1749829"/>
                <a:gridCol w="1749829"/>
                <a:gridCol w="1749829"/>
                <a:gridCol w="1749829"/>
              </a:tblGrid>
              <a:tr h="602661">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Author/Year</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Study/Work</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Method Used</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Key Result</a:t>
                      </a:r>
                      <a:endParaRPr lang="en-IN" dirty="0"/>
                    </a:p>
                  </a:txBody>
                  <a:tcPr/>
                </a:tc>
                <a:tc>
                  <a:txBody>
                    <a:bodyPr/>
                    <a:lstStyle/>
                    <a:p>
                      <a:r>
                        <a:rPr lang="en-US" dirty="0"/>
                        <a:t>Limitation</a:t>
                      </a:r>
                      <a:endParaRPr lang="en-IN" dirty="0"/>
                    </a:p>
                  </a:txBody>
                  <a:tcPr/>
                </a:tc>
              </a:tr>
              <a:tr h="1889610">
                <a:tc>
                  <a:txBody>
                    <a:bodyPr/>
                    <a:lstStyle/>
                    <a:p>
                      <a:r>
                        <a:rPr lang="en-US" dirty="0"/>
                        <a:t>4.</a:t>
                      </a:r>
                      <a:r>
                        <a:rPr lang="en-IN" dirty="0"/>
                        <a:t> YASHAR DELDJOO et.al,2024</a:t>
                      </a:r>
                      <a:endParaRPr lang="en-IN" dirty="0"/>
                    </a:p>
                  </a:txBody>
                  <a:tcPr/>
                </a:tc>
                <a:tc>
                  <a:txBody>
                    <a:bodyPr/>
                    <a:lstStyle/>
                    <a:p>
                      <a:r>
                        <a:rPr lang="en-IN" dirty="0"/>
                        <a:t>Interactive Question Answering Systems.</a:t>
                      </a:r>
                      <a:endParaRPr lang="en-IN" dirty="0"/>
                    </a:p>
                  </a:txBody>
                  <a:tcPr/>
                </a:tc>
                <a:tc>
                  <a:txBody>
                    <a:bodyPr/>
                    <a:lstStyle/>
                    <a:p>
                      <a:r>
                        <a:rPr lang="en-US" dirty="0"/>
                        <a:t>Literature review and taxonomy of interactive question answering (IQA) architectures.</a:t>
                      </a:r>
                      <a:endParaRPr lang="en-IN" dirty="0"/>
                    </a:p>
                  </a:txBody>
                  <a:tcPr/>
                </a:tc>
                <a:tc>
                  <a:txBody>
                    <a:bodyPr/>
                    <a:lstStyle/>
                    <a:p>
                      <a:r>
                        <a:rPr lang="en-US" dirty="0"/>
                        <a:t>Defined unified framework combining QA, dialogue, and multimodal interaction.</a:t>
                      </a:r>
                      <a:endParaRPr lang="en-IN" dirty="0"/>
                    </a:p>
                  </a:txBody>
                  <a:tcPr/>
                </a:tc>
                <a:tc>
                  <a:txBody>
                    <a:bodyPr/>
                    <a:lstStyle/>
                    <a:p>
                      <a:r>
                        <a:rPr lang="en-US" dirty="0"/>
                        <a:t> Lacks empirical implementation and performance evaluation.</a:t>
                      </a:r>
                      <a:endParaRPr lang="en-IN" dirty="0"/>
                    </a:p>
                  </a:txBody>
                  <a:tcPr/>
                </a:tc>
              </a:tr>
              <a:tr h="1889610">
                <a:tc>
                  <a:txBody>
                    <a:bodyPr/>
                    <a:lstStyle/>
                    <a:p>
                      <a:r>
                        <a:rPr lang="en-US" dirty="0"/>
                        <a:t>5.</a:t>
                      </a:r>
                      <a:r>
                        <a:rPr lang="en-IN" dirty="0"/>
                        <a:t> </a:t>
                      </a:r>
                      <a:r>
                        <a:rPr lang="en-IN" dirty="0" err="1"/>
                        <a:t>Siwen</a:t>
                      </a:r>
                      <a:r>
                        <a:rPr lang="en-IN" dirty="0"/>
                        <a:t> Luo et.al,2023</a:t>
                      </a:r>
                      <a:endParaRPr lang="en-IN" dirty="0"/>
                    </a:p>
                  </a:txBody>
                  <a:tcPr/>
                </a:tc>
                <a:tc>
                  <a:txBody>
                    <a:bodyPr/>
                    <a:lstStyle/>
                    <a:p>
                      <a:r>
                        <a:rPr lang="en-US" dirty="0"/>
                        <a:t>PDF-VQA: A New Dataset for Real-World VQA on PDF Documents</a:t>
                      </a:r>
                      <a:endParaRPr lang="en-IN" dirty="0"/>
                    </a:p>
                  </a:txBody>
                  <a:tcPr/>
                </a:tc>
                <a:tc>
                  <a:txBody>
                    <a:bodyPr/>
                    <a:lstStyle/>
                    <a:p>
                      <a:r>
                        <a:rPr lang="en-US" dirty="0"/>
                        <a:t> Graph-based model with hierarchical dataset creation.</a:t>
                      </a:r>
                      <a:endParaRPr lang="en-IN" dirty="0"/>
                    </a:p>
                  </a:txBody>
                  <a:tcPr/>
                </a:tc>
                <a:tc>
                  <a:txBody>
                    <a:bodyPr/>
                    <a:lstStyle/>
                    <a:p>
                      <a:r>
                        <a:rPr lang="en-US"/>
                        <a:t>Out performed </a:t>
                      </a:r>
                      <a:r>
                        <a:rPr lang="en-US" dirty="0"/>
                        <a:t>baselines in document understanding and multi-page VQA tasks.</a:t>
                      </a:r>
                      <a:endParaRPr lang="en-IN" dirty="0"/>
                    </a:p>
                  </a:txBody>
                  <a:tcPr/>
                </a:tc>
                <a:tc>
                  <a:txBody>
                    <a:bodyPr/>
                    <a:lstStyle/>
                    <a:p>
                      <a:r>
                        <a:rPr lang="en-US" dirty="0"/>
                        <a:t>Limited dataset coverage and complex model structure.</a:t>
                      </a:r>
                      <a:endParaRPr lang="en-IN" dirty="0"/>
                    </a:p>
                  </a:txBody>
                  <a:tcPr/>
                </a:tc>
              </a:tr>
              <a:tr h="1889610">
                <a:tc>
                  <a:txBody>
                    <a:bodyPr/>
                    <a:lstStyle/>
                    <a:p>
                      <a:r>
                        <a:rPr lang="en-US" dirty="0"/>
                        <a:t>6.</a:t>
                      </a:r>
                      <a:r>
                        <a:rPr lang="en-IN" dirty="0"/>
                        <a:t> Wei </a:t>
                      </a:r>
                      <a:r>
                        <a:rPr lang="en-IN" dirty="0" err="1"/>
                        <a:t>Wei</a:t>
                      </a:r>
                      <a:r>
                        <a:rPr lang="en-IN" dirty="0"/>
                        <a:t> et.al,2023</a:t>
                      </a:r>
                      <a:endParaRPr lang="en-IN" dirty="0"/>
                    </a:p>
                  </a:txBody>
                  <a:tcPr/>
                </a:tc>
                <a:tc>
                  <a:txBody>
                    <a:bodyPr/>
                    <a:lstStyle/>
                    <a:p>
                      <a:r>
                        <a:rPr lang="en-US" dirty="0" err="1"/>
                        <a:t>AttenWalker</a:t>
                      </a:r>
                      <a:r>
                        <a:rPr lang="en-US" dirty="0"/>
                        <a:t>: Unsupervised Long-Document Question Answering via Attention-based Graph Walking </a:t>
                      </a:r>
                      <a:endParaRPr lang="en-IN" dirty="0"/>
                    </a:p>
                  </a:txBody>
                  <a:tcPr/>
                </a:tc>
                <a:tc>
                  <a:txBody>
                    <a:bodyPr/>
                    <a:lstStyle/>
                    <a:p>
                      <a:r>
                        <a:rPr lang="en-US" dirty="0"/>
                        <a:t>Synthetic QA generation + LED model </a:t>
                      </a:r>
                      <a:endParaRPr lang="en-IN" dirty="0"/>
                    </a:p>
                  </a:txBody>
                  <a:tcPr/>
                </a:tc>
                <a:tc>
                  <a:txBody>
                    <a:bodyPr/>
                    <a:lstStyle/>
                    <a:p>
                      <a:r>
                        <a:rPr lang="en-US" dirty="0"/>
                        <a:t>Effective QA on long documents without supervision</a:t>
                      </a:r>
                      <a:endParaRPr lang="en-IN" dirty="0"/>
                    </a:p>
                  </a:txBody>
                  <a:tcPr/>
                </a:tc>
                <a:tc>
                  <a:txBody>
                    <a:bodyPr/>
                    <a:lstStyle/>
                    <a:p>
                      <a:r>
                        <a:rPr lang="en-US" dirty="0"/>
                        <a:t>Synthetic data may not match real QA distribution</a:t>
                      </a:r>
                      <a:endParaRPr lang="en-IN" dirty="0"/>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70164" y="436418"/>
          <a:ext cx="8707580" cy="6165966"/>
        </p:xfrm>
        <a:graphic>
          <a:graphicData uri="http://schemas.openxmlformats.org/drawingml/2006/table">
            <a:tbl>
              <a:tblPr firstRow="1" bandRow="1">
                <a:tableStyleId>{5C22544A-7EE6-4342-B048-85BDC9FD1C3A}</a:tableStyleId>
              </a:tblPr>
              <a:tblGrid>
                <a:gridCol w="1741516"/>
                <a:gridCol w="1741516"/>
                <a:gridCol w="1741516"/>
                <a:gridCol w="1741516"/>
                <a:gridCol w="1741516"/>
              </a:tblGrid>
              <a:tr h="405246">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Author/Year</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Study/Work</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Method Used</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Key Result</a:t>
                      </a:r>
                      <a:endParaRPr lang="en-IN" dirty="0"/>
                    </a:p>
                  </a:txBody>
                  <a:tcPr/>
                </a:tc>
                <a:tc>
                  <a:txBody>
                    <a:bodyPr/>
                    <a:lstStyle/>
                    <a:p>
                      <a:r>
                        <a:rPr lang="en-US" dirty="0"/>
                        <a:t>Limitation</a:t>
                      </a:r>
                      <a:endParaRPr lang="en-IN" dirty="0"/>
                    </a:p>
                  </a:txBody>
                  <a:tcPr/>
                </a:tc>
              </a:tr>
              <a:tr h="1524867">
                <a:tc>
                  <a:txBody>
                    <a:bodyPr/>
                    <a:lstStyle/>
                    <a:p>
                      <a:r>
                        <a:rPr lang="en-US" dirty="0"/>
                        <a:t>7.</a:t>
                      </a:r>
                      <a:r>
                        <a:rPr lang="en-IN" dirty="0"/>
                        <a:t> Antoun Yaacoubet.al,</a:t>
                      </a:r>
                      <a:endParaRPr lang="en-IN" dirty="0"/>
                    </a:p>
                    <a:p>
                      <a:r>
                        <a:rPr lang="en-IN" dirty="0"/>
                        <a:t>2023</a:t>
                      </a:r>
                      <a:endParaRPr lang="en-IN"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Assessing AI-Generated Questions’ Alignment with Cognitive Frameworks in Educational Assessment.</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AI Q-gen, ML (LR, NB, SVC), </a:t>
                      </a:r>
                      <a:r>
                        <a:rPr lang="en-US" dirty="0" err="1"/>
                        <a:t>DistilBERT</a:t>
                      </a:r>
                      <a:r>
                        <a:rPr lang="en-US" dirty="0"/>
                        <a:t>, Bloom’s Taxonomy.</a:t>
                      </a:r>
                      <a:endParaRPr lang="en-US"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err="1"/>
                        <a:t>DistilBERT</a:t>
                      </a:r>
                      <a:r>
                        <a:rPr lang="en-US" dirty="0"/>
                        <a:t> 91%, simple models → low levels, struggle higher.</a:t>
                      </a:r>
                      <a:endParaRPr lang="en-US" dirty="0"/>
                    </a:p>
                    <a:p>
                      <a:pPr marL="0" marR="0" lvl="0" indent="0" algn="l" defTabSz="457200" rtl="0" eaLnBrk="1" fontAlgn="auto" latinLnBrk="0" hangingPunct="1">
                        <a:lnSpc>
                          <a:spcPct val="100000"/>
                        </a:lnSpc>
                        <a:spcBef>
                          <a:spcPts val="0"/>
                        </a:spcBef>
                        <a:spcAft>
                          <a:spcPts val="0"/>
                        </a:spcAft>
                        <a:buClrTx/>
                        <a:buSzTx/>
                        <a:buFontTx/>
                        <a:buNone/>
                        <a:defRPr/>
                      </a:pP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Higher-order hard, domain-limited, prompt-dependent.</a:t>
                      </a:r>
                      <a:endParaRPr lang="en-US" dirty="0"/>
                    </a:p>
                    <a:p>
                      <a:endParaRPr lang="en-IN" dirty="0"/>
                    </a:p>
                  </a:txBody>
                  <a:tcPr/>
                </a:tc>
              </a:tr>
              <a:tr h="1524867">
                <a:tc>
                  <a:txBody>
                    <a:bodyPr/>
                    <a:lstStyle/>
                    <a:p>
                      <a:r>
                        <a:rPr lang="en-US" dirty="0"/>
                        <a:t>8.</a:t>
                      </a:r>
                      <a:r>
                        <a:rPr lang="en-IN" dirty="0"/>
                        <a:t> Jawad </a:t>
                      </a:r>
                      <a:r>
                        <a:rPr lang="en-IN" dirty="0" err="1"/>
                        <a:t>Alshboul</a:t>
                      </a:r>
                      <a:r>
                        <a:rPr lang="en-IN" dirty="0"/>
                        <a:t> et.al,2022</a:t>
                      </a:r>
                      <a:endParaRPr lang="en-IN" dirty="0"/>
                    </a:p>
                  </a:txBody>
                  <a:tcPr/>
                </a:tc>
                <a:tc>
                  <a:txBody>
                    <a:bodyPr/>
                    <a:lstStyle/>
                    <a:p>
                      <a:r>
                        <a:rPr lang="en-US" dirty="0"/>
                        <a:t>A Review of Automatic Question Generation in Teaching and Learning</a:t>
                      </a:r>
                      <a:endParaRPr lang="en-IN" dirty="0"/>
                    </a:p>
                  </a:txBody>
                  <a:tcPr/>
                </a:tc>
                <a:tc>
                  <a:txBody>
                    <a:bodyPr/>
                    <a:lstStyle/>
                    <a:p>
                      <a:r>
                        <a:rPr lang="en-US" dirty="0"/>
                        <a:t>Systematic literature review of AQG for programming education</a:t>
                      </a:r>
                      <a:endParaRPr lang="en-IN" dirty="0"/>
                    </a:p>
                  </a:txBody>
                  <a:tcPr/>
                </a:tc>
                <a:tc>
                  <a:txBody>
                    <a:bodyPr/>
                    <a:lstStyle/>
                    <a:p>
                      <a:r>
                        <a:rPr lang="en-US" dirty="0"/>
                        <a:t>Identified dominant methods and gaps in feedback generation</a:t>
                      </a:r>
                      <a:endParaRPr lang="en-IN" dirty="0"/>
                    </a:p>
                  </a:txBody>
                  <a:tcPr/>
                </a:tc>
                <a:tc>
                  <a:txBody>
                    <a:bodyPr/>
                    <a:lstStyle/>
                    <a:p>
                      <a:r>
                        <a:rPr lang="en-US" dirty="0"/>
                        <a:t>Under-reporting of non-English studies and omitted full-text papers</a:t>
                      </a:r>
                      <a:endParaRPr lang="en-IN" dirty="0"/>
                    </a:p>
                  </a:txBody>
                  <a:tcPr/>
                </a:tc>
              </a:tr>
              <a:tr h="1524867">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9.</a:t>
                      </a:r>
                      <a:r>
                        <a:rPr lang="en-IN" sz="1800" dirty="0"/>
                        <a:t> Yong Yu et.al,2020</a:t>
                      </a:r>
                      <a:endParaRPr lang="en-IN" sz="1800" dirty="0"/>
                    </a:p>
                    <a:p>
                      <a:endParaRPr lang="en-IN" dirty="0"/>
                    </a:p>
                  </a:txBody>
                  <a:tcPr/>
                </a:tc>
                <a:tc>
                  <a:txBody>
                    <a:bodyPr/>
                    <a:lstStyle/>
                    <a:p>
                      <a:r>
                        <a:rPr lang="en-US" dirty="0"/>
                        <a:t>A Graph-based Interaction Model for Knowledge Tracing</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t>GCN + LSTM + Attention + History Recap.</a:t>
                      </a:r>
                      <a:endParaRPr lang="en-IN" sz="1800"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t>+1% AUC, better prediction &amp; long-term tracking.</a:t>
                      </a:r>
                      <a:endParaRPr lang="en-US" dirty="0"/>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sz="1800" dirty="0"/>
                        <a:t>Needs big data, high compute, no feedback/explanation.</a:t>
                      </a:r>
                      <a:endParaRPr lang="en-IN" sz="1800" dirty="0"/>
                    </a:p>
                    <a:p>
                      <a:endParaRPr lang="en-IN" dirty="0"/>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28600" y="628765"/>
          <a:ext cx="8645235" cy="2108200"/>
        </p:xfrm>
        <a:graphic>
          <a:graphicData uri="http://schemas.openxmlformats.org/drawingml/2006/table">
            <a:tbl>
              <a:tblPr firstRow="1" bandRow="1">
                <a:tableStyleId>{5C22544A-7EE6-4342-B048-85BDC9FD1C3A}</a:tableStyleId>
              </a:tblPr>
              <a:tblGrid>
                <a:gridCol w="1729047"/>
                <a:gridCol w="1729047"/>
                <a:gridCol w="1729047"/>
                <a:gridCol w="1729047"/>
                <a:gridCol w="1729047"/>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Author/Year</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Study/Work</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Method Used</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dirty="0"/>
                        <a:t>Key Result</a:t>
                      </a:r>
                      <a:endParaRPr lang="en-IN" dirty="0"/>
                    </a:p>
                  </a:txBody>
                  <a:tcPr/>
                </a:tc>
                <a:tc>
                  <a:txBody>
                    <a:bodyPr/>
                    <a:lstStyle/>
                    <a:p>
                      <a:r>
                        <a:rPr lang="en-US" dirty="0"/>
                        <a:t>Limitation</a:t>
                      </a:r>
                      <a:endParaRPr lang="en-IN" dirty="0"/>
                    </a:p>
                  </a:txBody>
                  <a:tcPr/>
                </a:tc>
              </a:tr>
              <a:tr h="370840">
                <a:tc>
                  <a:txBody>
                    <a:bodyPr/>
                    <a:lstStyle/>
                    <a:p>
                      <a:r>
                        <a:rPr lang="en-US" dirty="0"/>
                        <a:t>10.</a:t>
                      </a:r>
                      <a:r>
                        <a:rPr lang="en-IN" dirty="0"/>
                        <a:t> Zifu Shi et.al,2020</a:t>
                      </a:r>
                      <a:endParaRPr lang="en-IN" dirty="0"/>
                    </a:p>
                  </a:txBody>
                  <a:tcPr/>
                </a:tc>
                <a:tc>
                  <a:txBody>
                    <a:bodyPr/>
                    <a:lstStyle/>
                    <a:p>
                      <a:r>
                        <a:rPr lang="en-US" dirty="0"/>
                        <a:t>Construction of Cognitive Maps to Improve Reading Performance </a:t>
                      </a:r>
                      <a:endParaRPr lang="en-IN" dirty="0"/>
                    </a:p>
                  </a:txBody>
                  <a:tcPr/>
                </a:tc>
                <a:tc>
                  <a:txBody>
                    <a:bodyPr/>
                    <a:lstStyle/>
                    <a:p>
                      <a:r>
                        <a:rPr lang="en-US" dirty="0"/>
                        <a:t>Experimental reading + signaling (physical/verbal) on paper vs screen </a:t>
                      </a:r>
                      <a:endParaRPr lang="en-IN" dirty="0"/>
                    </a:p>
                  </a:txBody>
                  <a:tcPr/>
                </a:tc>
                <a:tc>
                  <a:txBody>
                    <a:bodyPr/>
                    <a:lstStyle/>
                    <a:p>
                      <a:r>
                        <a:rPr lang="en-US" dirty="0"/>
                        <a:t>Signaling boosts navigation &amp; comprehension, especially physical cues on screen</a:t>
                      </a:r>
                      <a:endParaRPr lang="en-IN" dirty="0"/>
                    </a:p>
                  </a:txBody>
                  <a:tcPr/>
                </a:tc>
                <a:tc>
                  <a:txBody>
                    <a:bodyPr/>
                    <a:lstStyle/>
                    <a:p>
                      <a:r>
                        <a:rPr lang="en-US" dirty="0"/>
                        <a:t>Limited participant diversity; short texts &amp; behavioral measures only</a:t>
                      </a:r>
                      <a:endParaRPr lang="en-IN" dirty="0"/>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973" y="62261"/>
            <a:ext cx="8229600" cy="1143000"/>
          </a:xfrm>
        </p:spPr>
        <p:txBody>
          <a:bodyPr/>
          <a:lstStyle/>
          <a:p>
            <a:r>
              <a:rPr lang="en-US" b="1" dirty="0">
                <a:solidFill>
                  <a:srgbClr val="FF0000"/>
                </a:solidFill>
                <a:latin typeface="Copperplate Gothic Bold" panose="020E0705020206020404" pitchFamily="34" charset="0"/>
              </a:rPr>
              <a:t>Research Gap:</a:t>
            </a:r>
            <a:endParaRPr lang="en-IN" b="1" dirty="0">
              <a:solidFill>
                <a:srgbClr val="FF0000"/>
              </a:solidFill>
              <a:latin typeface="Copperplate Gothic Bold" panose="020E0705020206020404" pitchFamily="34" charset="0"/>
            </a:endParaRPr>
          </a:p>
        </p:txBody>
      </p:sp>
      <p:sp>
        <p:nvSpPr>
          <p:cNvPr id="3" name="Content Placeholder 2"/>
          <p:cNvSpPr>
            <a:spLocks noGrp="1"/>
          </p:cNvSpPr>
          <p:nvPr>
            <p:ph idx="1"/>
          </p:nvPr>
        </p:nvSpPr>
        <p:spPr>
          <a:xfrm>
            <a:off x="235973" y="1293433"/>
            <a:ext cx="8450827" cy="4364048"/>
          </a:xfrm>
        </p:spPr>
        <p:txBody>
          <a:bodyPr>
            <a:noAutofit/>
          </a:bodyPr>
          <a:lstStyle/>
          <a:p>
            <a:pPr algn="just">
              <a:buFont typeface="Wingdings" panose="05000000000000000000" pitchFamily="2" charset="2"/>
              <a:buChar char="Ø"/>
            </a:pPr>
            <a:r>
              <a:rPr lang="en-US" sz="2200" dirty="0"/>
              <a:t>Lack of Integrated Learning Systems – Most existing AI-based platforms focus either on content explanation or quizzes, but very few integrate explanation, doubt clarification, quizzes, and corrective feedback into one unified system.</a:t>
            </a:r>
            <a:endParaRPr lang="en-US" sz="2200" dirty="0"/>
          </a:p>
          <a:p>
            <a:pPr algn="just">
              <a:buFont typeface="Wingdings" panose="05000000000000000000" pitchFamily="2" charset="2"/>
              <a:buChar char="Ø"/>
            </a:pPr>
            <a:endParaRPr lang="en-US" sz="2200" dirty="0"/>
          </a:p>
          <a:p>
            <a:pPr algn="just">
              <a:buFont typeface="Wingdings" panose="05000000000000000000" pitchFamily="2" charset="2"/>
              <a:buChar char="Ø"/>
            </a:pPr>
            <a:r>
              <a:rPr lang="en-US" sz="2200" dirty="0"/>
              <a:t> Limited Error Feedback Mechanisms – Current systems often provide the correct answer but fail to give detailed reasoning or explain misconceptions, which is crucial for deep learning and concept retention.</a:t>
            </a:r>
            <a:endParaRPr lang="en-US" sz="2200" dirty="0"/>
          </a:p>
          <a:p>
            <a:pPr algn="just">
              <a:buFont typeface="Wingdings" panose="05000000000000000000" pitchFamily="2" charset="2"/>
              <a:buChar char="Ø"/>
            </a:pPr>
            <a:endParaRPr lang="en-US" sz="2200" dirty="0"/>
          </a:p>
          <a:p>
            <a:pPr algn="just">
              <a:buFont typeface="Wingdings" panose="05000000000000000000" pitchFamily="2" charset="2"/>
              <a:buChar char="Ø"/>
            </a:pPr>
            <a:r>
              <a:rPr lang="en-US" sz="2200" dirty="0"/>
              <a:t>Insufficient Personalization – While intelligent tutoring systems exist, many do not adapt cognitive maps or learning paths based on individual learner performance, styles, or weak areas.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Copperplate Gothic Bold" panose="020E0705020206020404" pitchFamily="34" charset="0"/>
              </a:rPr>
              <a:t>Problem Statement:</a:t>
            </a:r>
            <a:endParaRPr lang="en-IN" b="1" dirty="0">
              <a:solidFill>
                <a:srgbClr val="FF0000"/>
              </a:solidFill>
              <a:latin typeface="Copperplate Gothic Bold" panose="020E0705020206020404" pitchFamily="34" charset="0"/>
            </a:endParaRPr>
          </a:p>
        </p:txBody>
      </p:sp>
      <p:sp>
        <p:nvSpPr>
          <p:cNvPr id="3" name="Content Placeholder 2"/>
          <p:cNvSpPr>
            <a:spLocks noGrp="1"/>
          </p:cNvSpPr>
          <p:nvPr>
            <p:ph idx="1"/>
          </p:nvPr>
        </p:nvSpPr>
        <p:spPr>
          <a:xfrm>
            <a:off x="457200" y="1600201"/>
            <a:ext cx="8229600" cy="3510280"/>
          </a:xfrm>
        </p:spPr>
        <p:txBody>
          <a:bodyPr/>
          <a:lstStyle/>
          <a:p>
            <a:pPr marL="0" indent="0" algn="just">
              <a:buNone/>
            </a:pPr>
            <a:r>
              <a:rPr lang="en-US" dirty="0"/>
              <a:t>Students lack in  tools that explain study material, clear doubts instantly, and give feedback on mistakes. Students lack an interactive system that can instantly clarify doubts and generate personalized quizzes from their own study materials. </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solidFill>
                  <a:srgbClr val="FF0000"/>
                </a:solidFill>
                <a:latin typeface="Copperplate Gothic Bold" panose="020E0705020206020404" pitchFamily="34" charset="0"/>
              </a:rPr>
              <a:t>Objectives</a:t>
            </a:r>
            <a:endParaRPr b="1" dirty="0">
              <a:solidFill>
                <a:srgbClr val="FF0000"/>
              </a:solidFill>
              <a:latin typeface="Copperplate Gothic Bold" panose="020E0705020206020404" pitchFamily="34" charset="0"/>
            </a:endParaRPr>
          </a:p>
        </p:txBody>
      </p:sp>
      <p:sp>
        <p:nvSpPr>
          <p:cNvPr id="14" name="Content Placeholder 13"/>
          <p:cNvSpPr>
            <a:spLocks noGrp="1"/>
          </p:cNvSpPr>
          <p:nvPr>
            <p:ph idx="1"/>
          </p:nvPr>
        </p:nvSpPr>
        <p:spPr/>
        <p:txBody>
          <a:bodyPr>
            <a:normAutofit/>
          </a:bodyPr>
          <a:lstStyle/>
          <a:p>
            <a:pPr>
              <a:buFont typeface="Wingdings" panose="05000000000000000000" pitchFamily="2" charset="2"/>
              <a:buChar char="Ø"/>
            </a:pPr>
            <a:r>
              <a:rPr lang="en-US" dirty="0"/>
              <a:t> To provide instant doubt clarification using AI</a:t>
            </a:r>
            <a:endParaRPr lang="en-US" dirty="0"/>
          </a:p>
          <a:p>
            <a:pPr>
              <a:buFont typeface="Wingdings" panose="05000000000000000000" pitchFamily="2" charset="2"/>
              <a:buChar char="Ø"/>
            </a:pPr>
            <a:endParaRPr lang="en-US" dirty="0"/>
          </a:p>
          <a:p>
            <a:pPr>
              <a:buFont typeface="Wingdings" panose="05000000000000000000" pitchFamily="2" charset="2"/>
              <a:buChar char="Ø"/>
            </a:pPr>
            <a:r>
              <a:rPr lang="en-US" dirty="0"/>
              <a:t> To create customized quizzes based on learner weaknesses</a:t>
            </a:r>
            <a:endParaRPr lang="en-US" dirty="0"/>
          </a:p>
          <a:p>
            <a:pPr>
              <a:buFont typeface="Wingdings" panose="05000000000000000000" pitchFamily="2" charset="2"/>
              <a:buChar char="Ø"/>
            </a:pPr>
            <a:endParaRPr lang="en-US" dirty="0"/>
          </a:p>
          <a:p>
            <a:pPr>
              <a:buFont typeface="Wingdings" panose="05000000000000000000" pitchFamily="2" charset="2"/>
              <a:buChar char="Ø"/>
            </a:pPr>
            <a:r>
              <a:rPr lang="en-US" dirty="0"/>
              <a:t> To offer real-time feedback on mistakes with explanations</a:t>
            </a: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dirty="0">
                <a:solidFill>
                  <a:srgbClr val="FF0000"/>
                </a:solidFill>
                <a:latin typeface="Copperplate Gothic Bold" panose="020E0705020206020404" pitchFamily="34" charset="0"/>
              </a:rPr>
              <a:t>scope</a:t>
            </a:r>
            <a:endParaRPr lang="en-IN" sz="6000" dirty="0">
              <a:solidFill>
                <a:srgbClr val="FF0000"/>
              </a:solidFill>
              <a:latin typeface="Copperplate Gothic Bold" panose="020E0705020206020404" pitchFamily="34" charset="0"/>
            </a:endParaRPr>
          </a:p>
        </p:txBody>
      </p:sp>
      <p:sp>
        <p:nvSpPr>
          <p:cNvPr id="3" name="Content Placeholder 2"/>
          <p:cNvSpPr>
            <a:spLocks noGrp="1"/>
          </p:cNvSpPr>
          <p:nvPr>
            <p:ph idx="1"/>
          </p:nvPr>
        </p:nvSpPr>
        <p:spPr>
          <a:xfrm>
            <a:off x="457200" y="1823720"/>
            <a:ext cx="8229600" cy="4525963"/>
          </a:xfrm>
        </p:spPr>
        <p:txBody>
          <a:bodyPr>
            <a:normAutofit/>
          </a:bodyPr>
          <a:lstStyle/>
          <a:p>
            <a:pPr>
              <a:buFont typeface="Wingdings" panose="05000000000000000000" pitchFamily="2" charset="2"/>
              <a:buChar char="Ø"/>
            </a:pPr>
            <a:r>
              <a:rPr lang="en-US" sz="2400" dirty="0"/>
              <a:t>Development of an AI system that processes students’ own study materials.</a:t>
            </a:r>
            <a:endParaRPr lang="en-US" sz="2400" dirty="0"/>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Real-time doubt clarification and concept explanation.</a:t>
            </a:r>
            <a:endParaRPr lang="en-US" sz="2400" dirty="0"/>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Generation of personalized quizzes and feedback.</a:t>
            </a:r>
            <a:endParaRPr lang="en-IN"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Copperplate Gothic Bold" panose="020E0705020206020404" pitchFamily="34" charset="0"/>
              </a:rPr>
              <a:t>Requirements</a:t>
            </a:r>
            <a:endParaRPr lang="en-IN" b="1" dirty="0">
              <a:solidFill>
                <a:srgbClr val="FF0000"/>
              </a:solidFill>
              <a:latin typeface="Copperplate Gothic Bold" panose="020E0705020206020404" pitchFamily="34" charset="0"/>
            </a:endParaRPr>
          </a:p>
        </p:txBody>
      </p:sp>
      <p:sp>
        <p:nvSpPr>
          <p:cNvPr id="3" name="Content Placeholder 2"/>
          <p:cNvSpPr>
            <a:spLocks noGrp="1"/>
          </p:cNvSpPr>
          <p:nvPr>
            <p:ph idx="1"/>
          </p:nvPr>
        </p:nvSpPr>
        <p:spPr>
          <a:xfrm>
            <a:off x="0" y="0"/>
            <a:ext cx="9144000" cy="6858000"/>
          </a:xfrm>
        </p:spPr>
        <p:txBody>
          <a:bodyPr>
            <a:normAutofit/>
          </a:bodyPr>
          <a:lstStyle/>
          <a:p>
            <a:pPr marL="0" indent="0">
              <a:buNone/>
            </a:pPr>
            <a:endParaRPr lang="en-IN" dirty="0"/>
          </a:p>
          <a:p>
            <a:pPr>
              <a:lnSpc>
                <a:spcPct val="200000"/>
              </a:lnSpc>
            </a:pPr>
            <a:endParaRPr lang="en-US" dirty="0"/>
          </a:p>
        </p:txBody>
      </p:sp>
      <p:sp>
        <p:nvSpPr>
          <p:cNvPr id="11" name="TextBox 10"/>
          <p:cNvSpPr txBox="1"/>
          <p:nvPr/>
        </p:nvSpPr>
        <p:spPr>
          <a:xfrm>
            <a:off x="1" y="1581594"/>
            <a:ext cx="9143999" cy="2677656"/>
          </a:xfrm>
          <a:prstGeom prst="rect">
            <a:avLst/>
          </a:prstGeom>
          <a:noFill/>
        </p:spPr>
        <p:txBody>
          <a:bodyPr wrap="square">
            <a:spAutoFit/>
          </a:bodyPr>
          <a:lstStyle/>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Programming Language: TypeScript and JavaScript</a:t>
            </a:r>
            <a:endParaRPr lang="en-US" sz="2400" dirty="0"/>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Backend: </a:t>
            </a:r>
            <a:r>
              <a:rPr lang="en-US" sz="2400" dirty="0" err="1"/>
              <a:t>Supabase</a:t>
            </a:r>
            <a:r>
              <a:rPr lang="en-US" sz="2400" dirty="0"/>
              <a:t> (</a:t>
            </a:r>
            <a:r>
              <a:rPr lang="en-US" sz="2400" dirty="0" err="1"/>
              <a:t>PostgreSQL+Authentication+APIs</a:t>
            </a:r>
            <a:r>
              <a:rPr lang="en-US" sz="2400" dirty="0"/>
              <a:t>)</a:t>
            </a:r>
            <a:endParaRPr lang="en-US" sz="2400" dirty="0"/>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Frontend: </a:t>
            </a:r>
            <a:r>
              <a:rPr lang="en-US" sz="2400" dirty="0" err="1"/>
              <a:t>HTML,Tailwind</a:t>
            </a:r>
            <a:r>
              <a:rPr lang="en-US" sz="2400" dirty="0"/>
              <a:t> </a:t>
            </a:r>
            <a:r>
              <a:rPr lang="en-US" sz="2400" dirty="0" err="1"/>
              <a:t>CSS,React</a:t>
            </a:r>
            <a:r>
              <a:rPr lang="en-US" sz="2400" dirty="0"/>
              <a:t>(with Vite)</a:t>
            </a:r>
            <a:endParaRPr lang="en-US" sz="2400" dirty="0"/>
          </a:p>
          <a:p>
            <a:pPr marL="342900" indent="-342900" algn="just">
              <a:buFont typeface="Wingdings" panose="05000000000000000000" pitchFamily="2" charset="2"/>
              <a:buChar char="Ø"/>
            </a:pP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question&#10;&#10;AI-generated content may be incorrect."/>
          <p:cNvPicPr>
            <a:picLocks noGrp="1" noChangeAspect="1"/>
          </p:cNvPicPr>
          <p:nvPr>
            <p:ph idx="1"/>
          </p:nvPr>
        </p:nvPicPr>
        <p:blipFill>
          <a:blip r:embed="rId1"/>
          <a:stretch>
            <a:fillRect/>
          </a:stretch>
        </p:blipFill>
        <p:spPr>
          <a:xfrm>
            <a:off x="1683328" y="83127"/>
            <a:ext cx="6016336" cy="7200900"/>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865"/>
            <a:ext cx="8229600" cy="1143000"/>
          </a:xfrm>
        </p:spPr>
        <p:txBody>
          <a:bodyPr>
            <a:normAutofit/>
          </a:bodyPr>
          <a:lstStyle/>
          <a:p>
            <a:r>
              <a:rPr b="1" dirty="0">
                <a:solidFill>
                  <a:srgbClr val="FF0000"/>
                </a:solidFill>
                <a:latin typeface="Copperplate Gothic Bold" panose="020E0705020206020404" pitchFamily="34" charset="0"/>
              </a:rPr>
              <a:t>Expected Results</a:t>
            </a:r>
            <a:endParaRPr b="1" dirty="0">
              <a:solidFill>
                <a:srgbClr val="FF0000"/>
              </a:solidFill>
              <a:latin typeface="Copperplate Gothic Bold" panose="020E0705020206020404" pitchFamily="34" charset="0"/>
            </a:endParaRPr>
          </a:p>
        </p:txBody>
      </p:sp>
      <p:sp>
        <p:nvSpPr>
          <p:cNvPr id="3" name="Content Placeholder 2"/>
          <p:cNvSpPr>
            <a:spLocks noGrp="1"/>
          </p:cNvSpPr>
          <p:nvPr>
            <p:ph idx="1"/>
          </p:nvPr>
        </p:nvSpPr>
        <p:spPr>
          <a:xfrm>
            <a:off x="76693" y="1098754"/>
            <a:ext cx="8967018" cy="5759245"/>
          </a:xfrm>
        </p:spPr>
        <p:txBody>
          <a:bodyPr>
            <a:noAutofit/>
          </a:bodyPr>
          <a:lstStyle/>
          <a:p>
            <a:pPr algn="just">
              <a:lnSpc>
                <a:spcPct val="200000"/>
              </a:lnSpc>
              <a:buFont typeface="Wingdings" panose="05000000000000000000" pitchFamily="2" charset="2"/>
              <a:buChar char="Ø"/>
            </a:pPr>
            <a:r>
              <a:rPr lang="en-US" altLang="en-GB" sz="2000" dirty="0">
                <a:solidFill>
                  <a:srgbClr val="3C3C3C"/>
                </a:solidFill>
              </a:rPr>
              <a:t>The system can extract and understand content from uploaded PDF study materials.</a:t>
            </a:r>
            <a:endParaRPr lang="en-US" altLang="en-GB" sz="2000" dirty="0">
              <a:solidFill>
                <a:srgbClr val="3C3C3C"/>
              </a:solidFill>
            </a:endParaRPr>
          </a:p>
          <a:p>
            <a:pPr algn="just">
              <a:lnSpc>
                <a:spcPct val="200000"/>
              </a:lnSpc>
              <a:buFont typeface="Wingdings" panose="05000000000000000000" pitchFamily="2" charset="2"/>
              <a:buChar char="Ø"/>
            </a:pPr>
            <a:r>
              <a:rPr lang="en-US" altLang="en-GB" sz="2000" dirty="0">
                <a:solidFill>
                  <a:srgbClr val="3C3C3C"/>
                </a:solidFill>
              </a:rPr>
              <a:t>Students receive accurate, context-based answers to their doubts.</a:t>
            </a:r>
            <a:endParaRPr lang="en-US" altLang="en-GB" sz="2000" dirty="0">
              <a:solidFill>
                <a:srgbClr val="3C3C3C"/>
              </a:solidFill>
            </a:endParaRPr>
          </a:p>
          <a:p>
            <a:pPr algn="just">
              <a:lnSpc>
                <a:spcPct val="200000"/>
              </a:lnSpc>
              <a:buFont typeface="Wingdings" panose="05000000000000000000" pitchFamily="2" charset="2"/>
              <a:buChar char="Ø"/>
            </a:pPr>
            <a:r>
              <a:rPr lang="en-US" altLang="en-GB" sz="2000" dirty="0">
                <a:solidFill>
                  <a:srgbClr val="3C3C3C"/>
                </a:solidFill>
              </a:rPr>
              <a:t>The generated quizzes help test understanding of key concepts.</a:t>
            </a:r>
            <a:endParaRPr lang="en-US" altLang="en-GB" sz="2000" dirty="0">
              <a:solidFill>
                <a:srgbClr val="3C3C3C"/>
              </a:solidFill>
            </a:endParaRPr>
          </a:p>
          <a:p>
            <a:pPr algn="just">
              <a:lnSpc>
                <a:spcPct val="200000"/>
              </a:lnSpc>
              <a:buFont typeface="Wingdings" panose="05000000000000000000" pitchFamily="2" charset="2"/>
              <a:buChar char="Ø"/>
            </a:pPr>
            <a:r>
              <a:rPr lang="en-US" altLang="en-GB" sz="2000" dirty="0">
                <a:solidFill>
                  <a:srgbClr val="3C3C3C"/>
                </a:solidFill>
              </a:rPr>
              <a:t>Wrong answers are followed by correct solutions and clear explanations.</a:t>
            </a:r>
            <a:endParaRPr lang="en-US" altLang="en-GB" sz="2000" dirty="0">
              <a:solidFill>
                <a:srgbClr val="3C3C3C"/>
              </a:solidFill>
            </a:endParaRPr>
          </a:p>
          <a:p>
            <a:pPr algn="just">
              <a:lnSpc>
                <a:spcPct val="200000"/>
              </a:lnSpc>
              <a:buFont typeface="Wingdings" panose="05000000000000000000" pitchFamily="2" charset="2"/>
              <a:buChar char="Ø"/>
            </a:pPr>
            <a:r>
              <a:rPr lang="en-US" altLang="en-GB" sz="2000" dirty="0">
                <a:solidFill>
                  <a:srgbClr val="3C3C3C"/>
                </a:solidFill>
              </a:rPr>
              <a:t>The platform promotes better learning, improved clarity, and higher retention.</a:t>
            </a:r>
            <a:endParaRPr lang="en-US" altLang="en-GB" sz="2000" dirty="0">
              <a:solidFill>
                <a:srgbClr val="3C3C3C"/>
              </a:solidFill>
            </a:endParaRPr>
          </a:p>
          <a:p>
            <a:pPr algn="just">
              <a:lnSpc>
                <a:spcPct val="200000"/>
              </a:lnSpc>
              <a:buFont typeface="Wingdings" panose="05000000000000000000" pitchFamily="2" charset="2"/>
              <a:buChar char="Ø"/>
            </a:pPr>
            <a:endParaRPr lang="en-US" sz="1800" dirty="0">
              <a:solidFill>
                <a:srgbClr val="3C3C3C"/>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dirty="0">
                <a:solidFill>
                  <a:srgbClr val="FF0000"/>
                </a:solidFill>
                <a:latin typeface="Copperplate Gothic Bold" panose="020E0705020206020404" pitchFamily="34" charset="0"/>
              </a:rPr>
              <a:t>Result</a:t>
            </a:r>
            <a:endParaRPr lang="en-IN" sz="6600" dirty="0">
              <a:solidFill>
                <a:srgbClr val="FF0000"/>
              </a:solidFill>
              <a:latin typeface="Copperplate Gothic Bold" panose="020E0705020206020404" pitchFamily="34" charset="0"/>
            </a:endParaRPr>
          </a:p>
        </p:txBody>
      </p:sp>
      <p:pic>
        <p:nvPicPr>
          <p:cNvPr id="5" name="Content Placeholder 4" descr="A screenshot of a computer&#10;&#10;AI-generated content may be incorrect."/>
          <p:cNvPicPr>
            <a:picLocks noGrp="1" noChangeAspect="1"/>
          </p:cNvPicPr>
          <p:nvPr>
            <p:ph idx="1"/>
          </p:nvPr>
        </p:nvPicPr>
        <p:blipFill>
          <a:blip r:embed="rId1"/>
          <a:stretch>
            <a:fillRect/>
          </a:stretch>
        </p:blipFill>
        <p:spPr>
          <a:xfrm>
            <a:off x="457200" y="1815426"/>
            <a:ext cx="8229600" cy="4095511"/>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9"/>
          <p:cNvPicPr>
            <a:picLocks noChangeAspect="1"/>
          </p:cNvPicPr>
          <p:nvPr/>
        </p:nvPicPr>
        <p:blipFill>
          <a:blip r:embed="rId1"/>
          <a:stretch>
            <a:fillRect/>
          </a:stretch>
        </p:blipFill>
        <p:spPr>
          <a:xfrm>
            <a:off x="38100" y="1158240"/>
            <a:ext cx="9032240" cy="47066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p:cNvPicPr>
            <a:picLocks noChangeAspect="1"/>
          </p:cNvPicPr>
          <p:nvPr/>
        </p:nvPicPr>
        <p:blipFill>
          <a:blip r:embed="rId1"/>
          <a:stretch>
            <a:fillRect/>
          </a:stretch>
        </p:blipFill>
        <p:spPr>
          <a:xfrm>
            <a:off x="158115" y="611505"/>
            <a:ext cx="8844280" cy="51968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p:cNvPicPr>
            <a:picLocks noChangeAspect="1"/>
          </p:cNvPicPr>
          <p:nvPr/>
        </p:nvPicPr>
        <p:blipFill>
          <a:blip r:embed="rId1"/>
          <a:stretch>
            <a:fillRect/>
          </a:stretch>
        </p:blipFill>
        <p:spPr>
          <a:xfrm>
            <a:off x="108585" y="500380"/>
            <a:ext cx="8943340" cy="56883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p:cNvPicPr>
            <a:picLocks noChangeAspect="1"/>
          </p:cNvPicPr>
          <p:nvPr/>
        </p:nvPicPr>
        <p:blipFill>
          <a:blip r:embed="rId1"/>
          <a:stretch>
            <a:fillRect/>
          </a:stretch>
        </p:blipFill>
        <p:spPr>
          <a:xfrm>
            <a:off x="-18415" y="683895"/>
            <a:ext cx="9144635" cy="57073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p:cNvPicPr>
            <a:picLocks noChangeAspect="1"/>
          </p:cNvPicPr>
          <p:nvPr/>
        </p:nvPicPr>
        <p:blipFill>
          <a:blip r:embed="rId1"/>
          <a:stretch>
            <a:fillRect/>
          </a:stretch>
        </p:blipFill>
        <p:spPr>
          <a:xfrm>
            <a:off x="120650" y="574040"/>
            <a:ext cx="8943340" cy="54171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5884</Words>
  <Application>WPS Presentation</Application>
  <PresentationFormat>On-screen Show (4:3)</PresentationFormat>
  <Paragraphs>254</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Arial</vt:lpstr>
      <vt:lpstr>Times New Roman</vt:lpstr>
      <vt:lpstr>Copperplate Gothic Bold</vt:lpstr>
      <vt:lpstr>Calibri</vt:lpstr>
      <vt:lpstr>Microsoft YaHei</vt:lpstr>
      <vt:lpstr>Arial Unicode MS</vt:lpstr>
      <vt:lpstr>Office Theme</vt:lpstr>
      <vt:lpstr>PowerPoint 演示文稿</vt:lpstr>
      <vt:lpstr>Table of Contents:</vt:lpstr>
      <vt:lpstr>Introduction</vt:lpstr>
      <vt:lpstr>PowerPoint 演示文稿</vt:lpstr>
      <vt:lpstr>PowerPoint 演示文稿</vt:lpstr>
      <vt:lpstr>PowerPoint 演示文稿</vt:lpstr>
      <vt:lpstr>PowerPoint 演示文稿</vt:lpstr>
      <vt:lpstr>Research Gap:</vt:lpstr>
      <vt:lpstr>Problem Statement:</vt:lpstr>
      <vt:lpstr>Objectives</vt:lpstr>
      <vt:lpstr>scope</vt:lpstr>
      <vt:lpstr>Requirements</vt:lpstr>
      <vt:lpstr>PowerPoint 演示文稿</vt:lpstr>
      <vt:lpstr>Expected Results</vt:lpstr>
      <vt:lpstr>Result</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Sookta Acharya</dc:creator>
  <dc:description>generated using python-pptx</dc:description>
  <cp:lastModifiedBy>Rashmi Bhat</cp:lastModifiedBy>
  <cp:revision>21</cp:revision>
  <dcterms:created xsi:type="dcterms:W3CDTF">2013-01-27T09:14:00Z</dcterms:created>
  <dcterms:modified xsi:type="dcterms:W3CDTF">2025-12-05T04:26:27Z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79D58DFBFC444ECAA5A63096DB603059_12</vt:lpwstr>
  </property>
  <property fmtid="{D5CDD505-2E9C-101B-9397-08002B2CF9AE}" pid="3" name="KSOProductBuildVer">
    <vt:lpwstr>2057-12.2.0.23149</vt:lpwstr>
  </property>
</Properties>
</file>